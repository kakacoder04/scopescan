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3" r:id="rId4"/>
    <p:sldId id="262" r:id="rId5"/>
    <p:sldId id="264" r:id="rId6"/>
    <p:sldId id="266" r:id="rId7"/>
    <p:sldId id="268" r:id="rId8"/>
    <p:sldId id="269" r:id="rId9"/>
    <p:sldId id="272" r:id="rId10"/>
    <p:sldId id="271" r:id="rId11"/>
    <p:sldId id="267" r:id="rId12"/>
    <p:sldId id="270" r:id="rId13"/>
    <p:sldId id="261" r:id="rId14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46"/>
    <p:restoredTop sz="94673"/>
  </p:normalViewPr>
  <p:slideViewPr>
    <p:cSldViewPr snapToGrid="0">
      <p:cViewPr varScale="1">
        <p:scale>
          <a:sx n="40" d="100"/>
          <a:sy n="40" d="100"/>
        </p:scale>
        <p:origin x="52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54561-3DC9-47E2-98F5-A8EB9BA9B44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66EB8-DDA5-4BE7-BC26-EE9816A92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66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EB8-DDA5-4BE7-BC26-EE9816A925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66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EB8-DDA5-4BE7-BC26-EE9816A925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54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E00C1-4CB4-8E6D-DBF3-35E6FEBEF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F570-423D-F446-B0AB-A49B787D7786}" type="datetimeFigureOut">
              <a:t>11/25/2025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BE31B-7463-9444-FD35-ACD23191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167B5-CAF3-6E4D-6164-0DD8A6C3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A04-D0C9-734B-A73C-BFD2A5926B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89325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8DB8-EA1E-C0E0-9FD8-54334E52E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17334"/>
            <a:ext cx="9144000" cy="184838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9F941-CF6F-7403-4FA2-98750F9F7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E00C1-4CB4-8E6D-DBF3-35E6FEBEF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F570-423D-F446-B0AB-A49B787D7786}" type="datetimeFigureOut">
              <a:t>11/25/2025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BE31B-7463-9444-FD35-ACD23191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167B5-CAF3-6E4D-6164-0DD8A6C3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A04-D0C9-734B-A73C-BFD2A5926B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3673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59A38-8C37-DB7E-3697-D69C69B8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44DF1-C72E-AEE1-E8F7-F0147B849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63429-08D0-934F-A5F4-11A3A05F9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F570-423D-F446-B0AB-A49B787D7786}" type="datetimeFigureOut">
              <a:t>11/25/2025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34B25-9AAA-B9B8-2625-C1CFF9C3F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4A41F-D2CD-78B0-9CB2-299D5348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A04-D0C9-734B-A73C-BFD2A5926B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83142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20F8-28C7-BF86-F81A-4FFF729D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54DE6-C21A-0993-6DA5-31012F5E5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4B994-7876-EB47-7014-EB9882AF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F570-423D-F446-B0AB-A49B787D7786}" type="datetimeFigureOut">
              <a:t>11/25/2025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8BAFF-B2C8-466F-2000-C18CADFC1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0FEE0-C61E-56F8-B9EB-8F47D6D92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A04-D0C9-734B-A73C-BFD2A5926B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67643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6C9D-9AA2-9562-DFCF-F84EC770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99069-5D7A-24BE-1C3D-6CB4F0C1F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CCE96-7DB1-17A5-9BF0-05496AF53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1CC93-60B8-5F64-A659-203DD389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F570-423D-F446-B0AB-A49B787D7786}" type="datetimeFigureOut">
              <a:t>11/25/2025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049CC-39E9-CD3E-DC3D-FA48783F0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37AC2-D112-8DD1-FF24-78A52BBA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A04-D0C9-734B-A73C-BFD2A5926B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23681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FA517-2B6C-A05A-3A6E-0F4EA0F3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F570-423D-F446-B0AB-A49B787D7786}" type="datetimeFigureOut">
              <a:t>11/25/2025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27862-87B6-FDC0-0F14-9342D0FA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E9AEF-FB0E-F460-EE5D-345119A7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A04-D0C9-734B-A73C-BFD2A5926B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4913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1D0C2-6545-F109-725B-C3ACD63C0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93FBA-EFC2-D048-8EB9-40008C44B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7C81B-E58B-2C71-C97A-14D9AAE54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4C87D-74F8-9095-0DF5-AC0F44F9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F570-423D-F446-B0AB-A49B787D7786}" type="datetimeFigureOut">
              <a:t>11/25/2025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C4159-6E3C-EE45-3547-CC30C009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049BD-E2B4-16DD-402E-BAA76926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A04-D0C9-734B-A73C-BFD2A5926B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089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35ED-8E0D-2462-9BFD-B46F6F68F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2ECAFC-0566-9FC4-9B64-6B0CC0B42C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1BCD5-28CC-65F3-6215-7E79F1D8D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7A053-CDC2-BBC9-CAF2-5858808C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F570-423D-F446-B0AB-A49B787D7786}" type="datetimeFigureOut">
              <a:t>11/25/2025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1B28A-FD4A-895B-427E-F2DD1AF1B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2ABA5-B77A-5690-10C9-AC70F2652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A04-D0C9-734B-A73C-BFD2A5926B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6702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8EAE5-085B-5B67-250D-CB504E3B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148824-F98C-C27F-E30E-187ECB719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F0F43-56EE-10DA-8FAE-256950EB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F570-423D-F446-B0AB-A49B787D7786}" type="datetimeFigureOut">
              <a:t>11/25/2025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2AFD5-E916-9C5D-7E06-660ACC48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A53C6-6021-4BE2-45BD-C761E2F67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A04-D0C9-734B-A73C-BFD2A5926B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254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49EBEC-5D11-7CAF-F885-C610B6C70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DA1BB-BC29-E71C-AA5D-02DC2DAC9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D5BF8-44F1-AAAA-C691-EEBE9CD13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F570-423D-F446-B0AB-A49B787D7786}" type="datetimeFigureOut">
              <a:t>11/25/2025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73F8A-0C3C-DE4B-5BA2-25599805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2B32-D474-A1DB-807B-EDE0F57FE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A04-D0C9-734B-A73C-BFD2A5926B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5532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0F2D0F-B1C4-A0A0-2072-5552075F2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4318"/>
            <a:ext cx="10515600" cy="653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DE848-B6A3-7938-D261-6657F9603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96751"/>
            <a:ext cx="10515600" cy="4180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5E54C-BE68-1FB4-F2E6-5AF85C955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UTM Swiss Condensed" panose="02000500000000000000" pitchFamily="2" charset="77"/>
              </a:defRPr>
            </a:lvl1pPr>
          </a:lstStyle>
          <a:p>
            <a:fld id="{EA82F570-423D-F446-B0AB-A49B787D7786}" type="datetimeFigureOut">
              <a:rPr lang="en-VN"/>
              <a:pPr/>
              <a:t>11/25/2025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BF4BD-62CC-65FF-AC19-E892DE380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UTM Swiss Condensed" panose="02000500000000000000" pitchFamily="2" charset="77"/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B7729-9518-B76F-D460-81588010A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UTM Swiss Condensed" panose="02000500000000000000" pitchFamily="2" charset="77"/>
              </a:defRPr>
            </a:lvl1pPr>
          </a:lstStyle>
          <a:p>
            <a:fld id="{CBA48A04-D0C9-734B-A73C-BFD2A5926B1B}" type="slidenum">
              <a:rPr lang="en-VN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9114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UTM Swiss Condensed" panose="020005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UTM Swiss Condensed" panose="020005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UTM Swiss Condensed" panose="020005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UTM Swiss Condensed" panose="020005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UTM Swiss Condensed" panose="020005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UTM Swiss Condensed" panose="020005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C34A-446A-0CBC-FD26-59A5D840D91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4788806"/>
            <a:ext cx="9144000" cy="1028021"/>
          </a:xfrm>
        </p:spPr>
        <p:txBody>
          <a:bodyPr>
            <a:normAutofit/>
          </a:bodyPr>
          <a:lstStyle/>
          <a:p>
            <a:pPr algn="ctr"/>
            <a:r>
              <a:rPr lang="en-VN" sz="2000" dirty="0"/>
              <a:t>Đà Nẵng, ngày</a:t>
            </a:r>
            <a:r>
              <a:rPr lang="en-US" sz="2000" dirty="0"/>
              <a:t> 29</a:t>
            </a:r>
            <a:r>
              <a:rPr lang="en-VN" sz="2000" dirty="0"/>
              <a:t> tháng</a:t>
            </a:r>
            <a:r>
              <a:rPr lang="en-US" sz="2000" dirty="0"/>
              <a:t> 11</a:t>
            </a:r>
            <a:r>
              <a:rPr lang="en-VN" sz="2000" dirty="0"/>
              <a:t> năm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5104B-085C-BE38-C95E-6792314B8FB2}"/>
              </a:ext>
            </a:extLst>
          </p:cNvPr>
          <p:cNvSpPr txBox="1"/>
          <p:nvPr/>
        </p:nvSpPr>
        <p:spPr>
          <a:xfrm>
            <a:off x="5118652" y="3429000"/>
            <a:ext cx="19546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POLYPTECT</a:t>
            </a:r>
            <a:endParaRPr lang="en-VN" sz="2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9B821-DEAB-1E32-1286-CE855AA4BCB0}"/>
              </a:ext>
            </a:extLst>
          </p:cNvPr>
          <p:cNvSpPr txBox="1"/>
          <p:nvPr/>
        </p:nvSpPr>
        <p:spPr>
          <a:xfrm>
            <a:off x="1987827" y="3991326"/>
            <a:ext cx="8216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solidFill>
                  <a:schemeClr val="bg1"/>
                </a:solidFill>
              </a:rPr>
              <a:t>H</a:t>
            </a:r>
            <a:r>
              <a:rPr lang="en-US" sz="2400" b="1" dirty="0">
                <a:solidFill>
                  <a:schemeClr val="bg1"/>
                </a:solidFill>
              </a:rPr>
              <a:t>Ệ THỐNG HỖ TRỢ CHUẨN ĐOÁN BỆNH TRONG Y KHOA</a:t>
            </a:r>
            <a:endParaRPr lang="en-V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5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06EE-BEF9-F2EA-6DF6-4AA182DE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17334"/>
            <a:ext cx="9144000" cy="1060752"/>
          </a:xfrm>
        </p:spPr>
        <p:txBody>
          <a:bodyPr anchor="ctr">
            <a:normAutofit/>
          </a:bodyPr>
          <a:lstStyle/>
          <a:p>
            <a:r>
              <a:rPr lang="vi-VN" sz="4400" b="1" dirty="0"/>
              <a:t>LifeCode</a:t>
            </a:r>
            <a:endParaRPr lang="en-V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BCBA1-B094-EC97-7C49-6A46E279E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8086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vi-VN" dirty="0"/>
              <a:t>Phan Ka Ka</a:t>
            </a:r>
            <a:r>
              <a:rPr lang="en-VN" dirty="0"/>
              <a:t> – </a:t>
            </a:r>
            <a:r>
              <a:rPr lang="vi-VN" dirty="0"/>
              <a:t>25AI017</a:t>
            </a:r>
            <a:endParaRPr lang="en-VN" dirty="0"/>
          </a:p>
          <a:p>
            <a:r>
              <a:rPr lang="vi-VN" dirty="0"/>
              <a:t>Nguyễn Văn Ninh</a:t>
            </a:r>
            <a:r>
              <a:rPr lang="en-VN" dirty="0"/>
              <a:t> – </a:t>
            </a:r>
            <a:r>
              <a:rPr lang="vi-VN" dirty="0"/>
              <a:t>25AI032</a:t>
            </a:r>
            <a:endParaRPr lang="en-VN" dirty="0"/>
          </a:p>
          <a:p>
            <a:r>
              <a:rPr lang="vi-VN" dirty="0"/>
              <a:t>Nguyễn Thanh Đức</a:t>
            </a:r>
            <a:r>
              <a:rPr lang="en-VN" dirty="0"/>
              <a:t> – </a:t>
            </a:r>
            <a:r>
              <a:rPr lang="vi-VN" dirty="0"/>
              <a:t>25AI011</a:t>
            </a:r>
          </a:p>
          <a:p>
            <a:r>
              <a:rPr lang="en-US" dirty="0"/>
              <a:t>Nguyễn Đức Minh Trí - 25ITB169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17536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D258F-D122-4D87-2BD6-CB0874B2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6;p14">
            <a:extLst>
              <a:ext uri="{FF2B5EF4-FFF2-40B4-BE49-F238E27FC236}">
                <a16:creationId xmlns:a16="http://schemas.microsoft.com/office/drawing/2014/main" id="{5C366566-CA8F-CCC1-D605-A1352A2AB934}"/>
              </a:ext>
            </a:extLst>
          </p:cNvPr>
          <p:cNvSpPr txBox="1"/>
          <p:nvPr/>
        </p:nvSpPr>
        <p:spPr>
          <a:xfrm>
            <a:off x="590549" y="1378666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400" b="1" i="0" u="none" strike="noStrike" cap="none" dirty="0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Nội</a:t>
            </a:r>
            <a:r>
              <a:rPr lang="en-US" sz="4400" b="1" i="0" u="none" strike="noStrike" cap="none" dirty="0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 Dung Báo Cáo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6" name="Google Shape;97;p14">
            <a:extLst>
              <a:ext uri="{FF2B5EF4-FFF2-40B4-BE49-F238E27FC236}">
                <a16:creationId xmlns:a16="http://schemas.microsoft.com/office/drawing/2014/main" id="{AD6CB029-668A-BBF5-DDE5-FE8669FA406C}"/>
              </a:ext>
            </a:extLst>
          </p:cNvPr>
          <p:cNvSpPr/>
          <p:nvPr/>
        </p:nvSpPr>
        <p:spPr>
          <a:xfrm>
            <a:off x="571500" y="2120204"/>
            <a:ext cx="11049000" cy="61258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84;p13" descr="image.png">
            <a:extLst>
              <a:ext uri="{FF2B5EF4-FFF2-40B4-BE49-F238E27FC236}">
                <a16:creationId xmlns:a16="http://schemas.microsoft.com/office/drawing/2014/main" id="{830BC753-661C-76AE-718F-08F14A13BA8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4374" y="2355440"/>
            <a:ext cx="4935540" cy="762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85;p13" descr="image.png">
            <a:extLst>
              <a:ext uri="{FF2B5EF4-FFF2-40B4-BE49-F238E27FC236}">
                <a16:creationId xmlns:a16="http://schemas.microsoft.com/office/drawing/2014/main" id="{F847D7E6-FA86-BEEA-AF78-CA68EA5D4A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9667" y="2351117"/>
            <a:ext cx="4935540" cy="762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86;p13" descr="image.png">
            <a:extLst>
              <a:ext uri="{FF2B5EF4-FFF2-40B4-BE49-F238E27FC236}">
                <a16:creationId xmlns:a16="http://schemas.microsoft.com/office/drawing/2014/main" id="{43BF40E6-0AFD-79B3-365F-5E2DF57FCF1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585" y="3363872"/>
            <a:ext cx="4935540" cy="762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87;p13" descr="image.png">
            <a:extLst>
              <a:ext uri="{FF2B5EF4-FFF2-40B4-BE49-F238E27FC236}">
                <a16:creationId xmlns:a16="http://schemas.microsoft.com/office/drawing/2014/main" id="{ED8864E8-90E1-A40D-67C6-84C3480F9D6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6878" y="3359549"/>
            <a:ext cx="4935540" cy="762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88;p13" descr="image.png">
            <a:extLst>
              <a:ext uri="{FF2B5EF4-FFF2-40B4-BE49-F238E27FC236}">
                <a16:creationId xmlns:a16="http://schemas.microsoft.com/office/drawing/2014/main" id="{00D3F79A-31BE-30A2-C798-6C9FBBE261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585" y="4371997"/>
            <a:ext cx="4935540" cy="75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89;p13" descr="image.png">
            <a:extLst>
              <a:ext uri="{FF2B5EF4-FFF2-40B4-BE49-F238E27FC236}">
                <a16:creationId xmlns:a16="http://schemas.microsoft.com/office/drawing/2014/main" id="{69DD4FC3-BFBA-A9B8-4419-0E11FBC805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6878" y="4367675"/>
            <a:ext cx="4935540" cy="762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90;p13" descr="image.png">
            <a:extLst>
              <a:ext uri="{FF2B5EF4-FFF2-40B4-BE49-F238E27FC236}">
                <a16:creationId xmlns:a16="http://schemas.microsoft.com/office/drawing/2014/main" id="{93AD5184-5590-CD84-A6A1-FCAE053DE73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1585" y="5479334"/>
            <a:ext cx="10668829" cy="762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91;p13" descr="image.png">
            <a:extLst>
              <a:ext uri="{FF2B5EF4-FFF2-40B4-BE49-F238E27FC236}">
                <a16:creationId xmlns:a16="http://schemas.microsoft.com/office/drawing/2014/main" id="{91BE1116-09AA-3ACC-93FC-F39E521566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4399" y="2590453"/>
            <a:ext cx="356173" cy="313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92;p13" descr="image.png">
            <a:extLst>
              <a:ext uri="{FF2B5EF4-FFF2-40B4-BE49-F238E27FC236}">
                <a16:creationId xmlns:a16="http://schemas.microsoft.com/office/drawing/2014/main" id="{37B686B4-5C1B-BA97-DC0C-B42FE08BE9A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49692" y="2586130"/>
            <a:ext cx="356173" cy="313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93;p13" descr="image.png">
            <a:extLst>
              <a:ext uri="{FF2B5EF4-FFF2-40B4-BE49-F238E27FC236}">
                <a16:creationId xmlns:a16="http://schemas.microsoft.com/office/drawing/2014/main" id="{926479E2-D5DA-899F-DBA5-40CD5A6C46B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1610" y="3598885"/>
            <a:ext cx="356173" cy="313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94;p13" descr="image.png">
            <a:extLst>
              <a:ext uri="{FF2B5EF4-FFF2-40B4-BE49-F238E27FC236}">
                <a16:creationId xmlns:a16="http://schemas.microsoft.com/office/drawing/2014/main" id="{F4B964CD-2605-AE0A-37F1-80D47EC1BE0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36903" y="3594562"/>
            <a:ext cx="356173" cy="313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95;p13" descr="image.png">
            <a:extLst>
              <a:ext uri="{FF2B5EF4-FFF2-40B4-BE49-F238E27FC236}">
                <a16:creationId xmlns:a16="http://schemas.microsoft.com/office/drawing/2014/main" id="{E796866A-F57D-6D56-5B8A-D7E05EBAD3C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1610" y="4607011"/>
            <a:ext cx="356173" cy="313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96;p13" descr="image.png">
            <a:extLst>
              <a:ext uri="{FF2B5EF4-FFF2-40B4-BE49-F238E27FC236}">
                <a16:creationId xmlns:a16="http://schemas.microsoft.com/office/drawing/2014/main" id="{28515AA8-A842-2B76-A133-EB5C2C94665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36903" y="4602688"/>
            <a:ext cx="356173" cy="313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97;p13" descr="image.png">
            <a:extLst>
              <a:ext uri="{FF2B5EF4-FFF2-40B4-BE49-F238E27FC236}">
                <a16:creationId xmlns:a16="http://schemas.microsoft.com/office/drawing/2014/main" id="{3DECDC54-793B-0639-C608-E3EC78D5D4A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1610" y="5679359"/>
            <a:ext cx="356173" cy="31376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103;p13">
            <a:extLst>
              <a:ext uri="{FF2B5EF4-FFF2-40B4-BE49-F238E27FC236}">
                <a16:creationId xmlns:a16="http://schemas.microsoft.com/office/drawing/2014/main" id="{67DD1646-28BF-B63A-9C19-C7B83C3AFC15}"/>
              </a:ext>
            </a:extLst>
          </p:cNvPr>
          <p:cNvSpPr txBox="1"/>
          <p:nvPr/>
        </p:nvSpPr>
        <p:spPr>
          <a:xfrm>
            <a:off x="1557562" y="2454344"/>
            <a:ext cx="3997776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Giới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thiệu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sản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phẩm</a:t>
            </a:r>
            <a:endParaRPr sz="3600" b="1" dirty="0">
              <a:latin typeface="UTM Swiss Condensed" panose="02000500000000000000"/>
            </a:endParaRPr>
          </a:p>
        </p:txBody>
      </p:sp>
      <p:sp>
        <p:nvSpPr>
          <p:cNvPr id="56" name="Google Shape;104;p13">
            <a:extLst>
              <a:ext uri="{FF2B5EF4-FFF2-40B4-BE49-F238E27FC236}">
                <a16:creationId xmlns:a16="http://schemas.microsoft.com/office/drawing/2014/main" id="{5C40EF55-DA0B-01ED-13BA-42CEA83E02CB}"/>
              </a:ext>
            </a:extLst>
          </p:cNvPr>
          <p:cNvSpPr txBox="1"/>
          <p:nvPr/>
        </p:nvSpPr>
        <p:spPr>
          <a:xfrm>
            <a:off x="7232855" y="2450021"/>
            <a:ext cx="472295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i="0" u="none" strike="noStrike" cap="none" dirty="0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Lý do chọn đề tài</a:t>
            </a:r>
            <a:endParaRPr sz="3600" b="1" dirty="0">
              <a:latin typeface="UTM Swiss Condensed" panose="02000500000000000000"/>
            </a:endParaRPr>
          </a:p>
        </p:txBody>
      </p:sp>
      <p:sp>
        <p:nvSpPr>
          <p:cNvPr id="57" name="Google Shape;105;p13">
            <a:extLst>
              <a:ext uri="{FF2B5EF4-FFF2-40B4-BE49-F238E27FC236}">
                <a16:creationId xmlns:a16="http://schemas.microsoft.com/office/drawing/2014/main" id="{A2D13235-2690-E1F5-DA6D-B9350D4FD287}"/>
              </a:ext>
            </a:extLst>
          </p:cNvPr>
          <p:cNvSpPr txBox="1"/>
          <p:nvPr/>
        </p:nvSpPr>
        <p:spPr>
          <a:xfrm>
            <a:off x="1544773" y="3462776"/>
            <a:ext cx="3179626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i="0" u="none" strike="noStrike" cap="none" dirty="0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Các tính năng chính</a:t>
            </a:r>
            <a:endParaRPr sz="3600" b="1" dirty="0">
              <a:latin typeface="UTM Swiss Condensed" panose="02000500000000000000"/>
            </a:endParaRPr>
          </a:p>
        </p:txBody>
      </p:sp>
      <p:sp>
        <p:nvSpPr>
          <p:cNvPr id="58" name="Google Shape;106;p13">
            <a:extLst>
              <a:ext uri="{FF2B5EF4-FFF2-40B4-BE49-F238E27FC236}">
                <a16:creationId xmlns:a16="http://schemas.microsoft.com/office/drawing/2014/main" id="{6FC57632-78DB-2A94-88D0-C46B34263169}"/>
              </a:ext>
            </a:extLst>
          </p:cNvPr>
          <p:cNvSpPr txBox="1"/>
          <p:nvPr/>
        </p:nvSpPr>
        <p:spPr>
          <a:xfrm>
            <a:off x="7220066" y="3458453"/>
            <a:ext cx="4555606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i="0" u="none" strike="noStrike" cap="none" dirty="0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Các công nghệ ứng dụng</a:t>
            </a:r>
            <a:endParaRPr sz="3600" b="1" dirty="0">
              <a:latin typeface="UTM Swiss Condensed" panose="02000500000000000000"/>
            </a:endParaRPr>
          </a:p>
        </p:txBody>
      </p:sp>
      <p:sp>
        <p:nvSpPr>
          <p:cNvPr id="59" name="Google Shape;107;p13">
            <a:extLst>
              <a:ext uri="{FF2B5EF4-FFF2-40B4-BE49-F238E27FC236}">
                <a16:creationId xmlns:a16="http://schemas.microsoft.com/office/drawing/2014/main" id="{5DB311CF-C161-FF3B-3E97-FC326122191B}"/>
              </a:ext>
            </a:extLst>
          </p:cNvPr>
          <p:cNvSpPr txBox="1"/>
          <p:nvPr/>
        </p:nvSpPr>
        <p:spPr>
          <a:xfrm>
            <a:off x="1544773" y="4470903"/>
            <a:ext cx="385430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i="0" u="none" strike="noStrike" cap="none" dirty="0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Quy trình hoạt động</a:t>
            </a:r>
            <a:endParaRPr sz="3600" b="1" dirty="0">
              <a:latin typeface="UTM Swiss Condensed" panose="02000500000000000000"/>
            </a:endParaRPr>
          </a:p>
        </p:txBody>
      </p:sp>
      <p:sp>
        <p:nvSpPr>
          <p:cNvPr id="60" name="Google Shape;108;p13">
            <a:extLst>
              <a:ext uri="{FF2B5EF4-FFF2-40B4-BE49-F238E27FC236}">
                <a16:creationId xmlns:a16="http://schemas.microsoft.com/office/drawing/2014/main" id="{C9747A6D-3838-1F78-0924-4B13FFC23E0F}"/>
              </a:ext>
            </a:extLst>
          </p:cNvPr>
          <p:cNvSpPr txBox="1"/>
          <p:nvPr/>
        </p:nvSpPr>
        <p:spPr>
          <a:xfrm>
            <a:off x="7220065" y="4466579"/>
            <a:ext cx="297658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i="0" u="none" strike="noStrike" cap="none" dirty="0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Kết quả thực nghiệm</a:t>
            </a:r>
            <a:endParaRPr sz="3600" b="1" dirty="0">
              <a:latin typeface="UTM Swiss Condensed" panose="02000500000000000000"/>
            </a:endParaRPr>
          </a:p>
        </p:txBody>
      </p:sp>
      <p:sp>
        <p:nvSpPr>
          <p:cNvPr id="61" name="Google Shape;109;p13">
            <a:extLst>
              <a:ext uri="{FF2B5EF4-FFF2-40B4-BE49-F238E27FC236}">
                <a16:creationId xmlns:a16="http://schemas.microsoft.com/office/drawing/2014/main" id="{79458996-886C-8EFC-62BB-03BCEF8835D8}"/>
              </a:ext>
            </a:extLst>
          </p:cNvPr>
          <p:cNvSpPr txBox="1"/>
          <p:nvPr/>
        </p:nvSpPr>
        <p:spPr>
          <a:xfrm>
            <a:off x="1410942" y="5548905"/>
            <a:ext cx="56097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i="0" u="none" strike="noStrike" cap="none" dirty="0">
                <a:solidFill>
                  <a:srgbClr val="334155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Kết luận và hướng phát triển</a:t>
            </a:r>
            <a:endParaRPr sz="3600" b="1" dirty="0">
              <a:latin typeface="UTM Swiss Condensed" panose="02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075544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DA6F-661B-E3AB-711D-668B769BA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6;p14">
            <a:extLst>
              <a:ext uri="{FF2B5EF4-FFF2-40B4-BE49-F238E27FC236}">
                <a16:creationId xmlns:a16="http://schemas.microsoft.com/office/drawing/2014/main" id="{4C0EE055-8A20-4953-4033-41FD91396CB0}"/>
              </a:ext>
            </a:extLst>
          </p:cNvPr>
          <p:cNvSpPr txBox="1"/>
          <p:nvPr/>
        </p:nvSpPr>
        <p:spPr>
          <a:xfrm>
            <a:off x="590549" y="1378666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b="1" i="0" u="none" strike="noStrike" cap="none" dirty="0">
                <a:solidFill>
                  <a:schemeClr val="bg1"/>
                </a:solidFill>
                <a:latin typeface="UTM Swiss Condensed"/>
                <a:ea typeface="Merriweather"/>
                <a:cs typeface="Merriweather"/>
                <a:sym typeface="Merriweather"/>
              </a:rPr>
              <a:t>Giới thiệu sản phẩm</a:t>
            </a:r>
            <a:endParaRPr sz="3600" dirty="0">
              <a:solidFill>
                <a:schemeClr val="bg1"/>
              </a:solidFill>
              <a:latin typeface="UTM Swiss Condensed"/>
            </a:endParaRPr>
          </a:p>
        </p:txBody>
      </p:sp>
      <p:sp>
        <p:nvSpPr>
          <p:cNvPr id="5" name="Google Shape;97;p14">
            <a:extLst>
              <a:ext uri="{FF2B5EF4-FFF2-40B4-BE49-F238E27FC236}">
                <a16:creationId xmlns:a16="http://schemas.microsoft.com/office/drawing/2014/main" id="{60EE8C23-78F4-F5F2-57B2-D915F93C6ED7}"/>
              </a:ext>
            </a:extLst>
          </p:cNvPr>
          <p:cNvSpPr/>
          <p:nvPr/>
        </p:nvSpPr>
        <p:spPr>
          <a:xfrm>
            <a:off x="571500" y="1954651"/>
            <a:ext cx="11049000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UTM Swiss Condensed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19;p15" descr="image.png">
            <a:extLst>
              <a:ext uri="{FF2B5EF4-FFF2-40B4-BE49-F238E27FC236}">
                <a16:creationId xmlns:a16="http://schemas.microsoft.com/office/drawing/2014/main" id="{38A9D5C1-8884-567F-83AE-16CCC66231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7037" y="245910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2;p15">
            <a:extLst>
              <a:ext uri="{FF2B5EF4-FFF2-40B4-BE49-F238E27FC236}">
                <a16:creationId xmlns:a16="http://schemas.microsoft.com/office/drawing/2014/main" id="{1AB6A272-0E02-C329-287F-B2E1F8268E53}"/>
              </a:ext>
            </a:extLst>
          </p:cNvPr>
          <p:cNvSpPr txBox="1"/>
          <p:nvPr/>
        </p:nvSpPr>
        <p:spPr>
          <a:xfrm>
            <a:off x="710647" y="2459107"/>
            <a:ext cx="55006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bg1"/>
                </a:solidFill>
                <a:latin typeface="UTM Swiss Condensed"/>
                <a:ea typeface="Merriweather"/>
                <a:cs typeface="Merriweather"/>
                <a:sym typeface="Merriweather"/>
              </a:rPr>
              <a:t>Pylop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UTM Swiss Condensed"/>
                <a:ea typeface="Merriweather"/>
                <a:cs typeface="Merriweather"/>
                <a:sym typeface="Merriweather"/>
              </a:rPr>
              <a:t>-Detect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UTM Swiss Condensed"/>
                <a:ea typeface="Merriweather"/>
                <a:cs typeface="Merriweather"/>
                <a:sym typeface="Merriweather"/>
              </a:rPr>
              <a:t>là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UTM Swiss Condensed"/>
                <a:ea typeface="Merriweather"/>
                <a:cs typeface="Merriweather"/>
                <a:sym typeface="Merriweather"/>
              </a:rPr>
              <a:t>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UTM Swiss Condensed"/>
                <a:ea typeface="Merriweather"/>
                <a:cs typeface="Merriweather"/>
                <a:sym typeface="Merriweather"/>
              </a:rPr>
              <a:t>gì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UTM Swiss Condensed"/>
                <a:ea typeface="Merriweather"/>
                <a:cs typeface="Merriweather"/>
                <a:sym typeface="Merriweather"/>
              </a:rPr>
              <a:t>?</a:t>
            </a:r>
            <a:endParaRPr sz="3200" dirty="0">
              <a:solidFill>
                <a:schemeClr val="bg1"/>
              </a:solidFill>
              <a:latin typeface="UTM Swiss Condensed"/>
            </a:endParaRPr>
          </a:p>
        </p:txBody>
      </p:sp>
      <p:sp>
        <p:nvSpPr>
          <p:cNvPr id="8" name="Google Shape;123;p15">
            <a:extLst>
              <a:ext uri="{FF2B5EF4-FFF2-40B4-BE49-F238E27FC236}">
                <a16:creationId xmlns:a16="http://schemas.microsoft.com/office/drawing/2014/main" id="{8F8EC8F4-E2EF-FE3D-841A-53C93E3235CA}"/>
              </a:ext>
            </a:extLst>
          </p:cNvPr>
          <p:cNvSpPr txBox="1"/>
          <p:nvPr/>
        </p:nvSpPr>
        <p:spPr>
          <a:xfrm>
            <a:off x="710647" y="2868682"/>
            <a:ext cx="5238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Là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hệ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thống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website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ứng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dụng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Trí </a:t>
            </a:r>
            <a:r>
              <a:rPr lang="en-US" b="1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tuệ</a:t>
            </a:r>
            <a:r>
              <a:rPr lang="en-US" b="1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nhân</a:t>
            </a:r>
            <a:r>
              <a:rPr lang="en-US" b="1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tạo</a:t>
            </a:r>
            <a:r>
              <a:rPr lang="en-US" b="1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(AI)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hỗ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trợ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bác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sĩ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trong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quá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trình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nội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soi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tiêu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hóa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.</a:t>
            </a:r>
            <a:endParaRPr sz="2400" dirty="0">
              <a:solidFill>
                <a:schemeClr val="bg1"/>
              </a:solidFill>
              <a:latin typeface="UTM Swiss Condensed"/>
            </a:endParaRPr>
          </a:p>
        </p:txBody>
      </p:sp>
      <p:sp>
        <p:nvSpPr>
          <p:cNvPr id="10" name="Google Shape;127;p15">
            <a:extLst>
              <a:ext uri="{FF2B5EF4-FFF2-40B4-BE49-F238E27FC236}">
                <a16:creationId xmlns:a16="http://schemas.microsoft.com/office/drawing/2014/main" id="{E3A0C53B-D157-321B-8A6A-0FC9998CB69F}"/>
              </a:ext>
            </a:extLst>
          </p:cNvPr>
          <p:cNvSpPr txBox="1"/>
          <p:nvPr/>
        </p:nvSpPr>
        <p:spPr>
          <a:xfrm>
            <a:off x="805897" y="3755079"/>
            <a:ext cx="5048250" cy="3053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Phân</a:t>
            </a:r>
            <a:r>
              <a:rPr lang="en-US" sz="2000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tích</a:t>
            </a:r>
            <a:r>
              <a:rPr lang="en-US" sz="2000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hình</a:t>
            </a:r>
            <a:r>
              <a:rPr lang="en-US" sz="2000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ảnh</a:t>
            </a:r>
            <a:r>
              <a:rPr lang="en-US" sz="2000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/video </a:t>
            </a:r>
            <a:r>
              <a:rPr lang="en-US" sz="2000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thời</a:t>
            </a:r>
            <a:r>
              <a:rPr lang="en-US" sz="2000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gian</a:t>
            </a:r>
            <a:r>
              <a:rPr lang="en-US" sz="2000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thực</a:t>
            </a:r>
            <a:r>
              <a:rPr lang="en-US" sz="2000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.</a:t>
            </a:r>
            <a:endParaRPr lang="vi-VN" sz="2000" b="0" i="0" u="none" strike="noStrike" cap="none" dirty="0">
              <a:solidFill>
                <a:schemeClr val="bg1"/>
              </a:solidFill>
              <a:latin typeface="UTM Swiss Condensed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Tự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động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nhận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diện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và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khoanh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vùng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vi-VN" sz="2000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tổn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thương</a:t>
            </a:r>
            <a:r>
              <a:rPr lang="en-US" b="0" i="0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.</a:t>
            </a:r>
            <a:endParaRPr lang="vi-VN" b="0" i="0" u="none" strike="noStrike" cap="none" dirty="0">
              <a:solidFill>
                <a:schemeClr val="bg1"/>
              </a:solidFill>
              <a:latin typeface="UTM Swiss Condensed"/>
              <a:ea typeface="Inter"/>
              <a:cs typeface="Inter"/>
              <a:sym typeface="Inter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Hỗ</a:t>
            </a:r>
            <a:r>
              <a:rPr lang="en-US" sz="2000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trợ</a:t>
            </a:r>
            <a:r>
              <a:rPr lang="en-US" sz="2000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phát</a:t>
            </a:r>
            <a:r>
              <a:rPr lang="en-US" sz="2000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hiện</a:t>
            </a:r>
            <a:r>
              <a:rPr lang="en-US" sz="2000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: </a:t>
            </a:r>
            <a:r>
              <a:rPr lang="en-US" sz="2000" b="1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Polyp, </a:t>
            </a:r>
            <a:r>
              <a:rPr lang="en-US" sz="2000" b="1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Viêm</a:t>
            </a:r>
            <a:r>
              <a:rPr lang="en-US" sz="2000" b="1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loét</a:t>
            </a:r>
            <a:r>
              <a:rPr lang="en-US" sz="2000" b="1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đại</a:t>
            </a:r>
            <a:r>
              <a:rPr lang="en-US" sz="2000" b="1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tràng</a:t>
            </a:r>
            <a:r>
              <a:rPr lang="en-US" sz="2000" b="1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Viêm</a:t>
            </a:r>
            <a:r>
              <a:rPr lang="en-US" sz="2000" b="1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thực</a:t>
            </a:r>
            <a:r>
              <a:rPr lang="en-US" sz="2000" b="1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quản</a:t>
            </a:r>
            <a:r>
              <a:rPr lang="en-US" sz="2000" b="1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.</a:t>
            </a:r>
            <a:endParaRPr lang="en-US" sz="2800" dirty="0">
              <a:solidFill>
                <a:schemeClr val="bg1"/>
              </a:solidFill>
              <a:latin typeface="UTM Swiss Condensed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400" dirty="0">
              <a:solidFill>
                <a:schemeClr val="bg1"/>
              </a:solidFill>
              <a:latin typeface="UTM Swis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12986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6B7D8-3A80-42EE-1C70-33715FAB5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6;p14">
            <a:extLst>
              <a:ext uri="{FF2B5EF4-FFF2-40B4-BE49-F238E27FC236}">
                <a16:creationId xmlns:a16="http://schemas.microsoft.com/office/drawing/2014/main" id="{78BFF402-0CCC-CFC6-3200-FAD4BC1C1272}"/>
              </a:ext>
            </a:extLst>
          </p:cNvPr>
          <p:cNvSpPr txBox="1"/>
          <p:nvPr/>
        </p:nvSpPr>
        <p:spPr>
          <a:xfrm>
            <a:off x="590549" y="1378666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b="1" i="0" u="none" strike="noStrike" cap="none" dirty="0">
                <a:solidFill>
                  <a:schemeClr val="bg1"/>
                </a:solidFill>
                <a:latin typeface="UTM Swiss Condensed"/>
                <a:ea typeface="Merriweather"/>
                <a:cs typeface="Merriweather"/>
                <a:sym typeface="Merriweather"/>
              </a:rPr>
              <a:t>Lý do chọn đề tài</a:t>
            </a:r>
            <a:endParaRPr sz="3600" dirty="0">
              <a:solidFill>
                <a:schemeClr val="bg1"/>
              </a:solidFill>
              <a:latin typeface="UTM Swiss Condensed"/>
            </a:endParaRPr>
          </a:p>
        </p:txBody>
      </p:sp>
      <p:sp>
        <p:nvSpPr>
          <p:cNvPr id="7" name="Google Shape;97;p14">
            <a:extLst>
              <a:ext uri="{FF2B5EF4-FFF2-40B4-BE49-F238E27FC236}">
                <a16:creationId xmlns:a16="http://schemas.microsoft.com/office/drawing/2014/main" id="{AB1513C3-0073-A568-F612-D47BDF051488}"/>
              </a:ext>
            </a:extLst>
          </p:cNvPr>
          <p:cNvSpPr/>
          <p:nvPr/>
        </p:nvSpPr>
        <p:spPr>
          <a:xfrm>
            <a:off x="571500" y="1954651"/>
            <a:ext cx="11049000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UTM Swiss Condensed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35;p16" descr="image.png">
            <a:extLst>
              <a:ext uri="{FF2B5EF4-FFF2-40B4-BE49-F238E27FC236}">
                <a16:creationId xmlns:a16="http://schemas.microsoft.com/office/drawing/2014/main" id="{B54DD643-0F08-9796-7452-32895A57F61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2412864"/>
            <a:ext cx="5411571" cy="272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36;p16" descr="image.png">
            <a:extLst>
              <a:ext uri="{FF2B5EF4-FFF2-40B4-BE49-F238E27FC236}">
                <a16:creationId xmlns:a16="http://schemas.microsoft.com/office/drawing/2014/main" id="{519C1766-C2E0-4DC9-F07A-8922AE3CAD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412864"/>
            <a:ext cx="5411571" cy="272044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37;p16">
            <a:extLst>
              <a:ext uri="{FF2B5EF4-FFF2-40B4-BE49-F238E27FC236}">
                <a16:creationId xmlns:a16="http://schemas.microsoft.com/office/drawing/2014/main" id="{BB327E8C-99E5-5365-FA48-F6979228C623}"/>
              </a:ext>
            </a:extLst>
          </p:cNvPr>
          <p:cNvSpPr txBox="1"/>
          <p:nvPr/>
        </p:nvSpPr>
        <p:spPr>
          <a:xfrm>
            <a:off x="962026" y="2803390"/>
            <a:ext cx="4619162" cy="94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5088"/>
                </a:solidFill>
                <a:latin typeface="UTM Swiss Condensed"/>
                <a:ea typeface="Inter"/>
                <a:cs typeface="Inter"/>
                <a:sym typeface="Inter"/>
              </a:rPr>
              <a:t>26%</a:t>
            </a:r>
            <a:endParaRPr dirty="0">
              <a:latin typeface="UTM Swiss Condensed"/>
            </a:endParaRPr>
          </a:p>
        </p:txBody>
      </p:sp>
      <p:sp>
        <p:nvSpPr>
          <p:cNvPr id="11" name="Google Shape;138;p16">
            <a:extLst>
              <a:ext uri="{FF2B5EF4-FFF2-40B4-BE49-F238E27FC236}">
                <a16:creationId xmlns:a16="http://schemas.microsoft.com/office/drawing/2014/main" id="{100AD23D-1E41-953C-A125-61D3E62082F5}"/>
              </a:ext>
            </a:extLst>
          </p:cNvPr>
          <p:cNvSpPr txBox="1"/>
          <p:nvPr/>
        </p:nvSpPr>
        <p:spPr>
          <a:xfrm>
            <a:off x="962026" y="3822565"/>
            <a:ext cx="46191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UTM Swiss Condensed"/>
                <a:ea typeface="Inter"/>
                <a:cs typeface="Inter"/>
                <a:sym typeface="Inter"/>
              </a:rPr>
              <a:t>Dân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UTM Swiss Condensed"/>
                <a:ea typeface="Inter"/>
                <a:cs typeface="Inter"/>
                <a:sym typeface="Inter"/>
              </a:rPr>
              <a:t>số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UTM Swiss Condensed"/>
                <a:ea typeface="Inter"/>
                <a:cs typeface="Inter"/>
                <a:sym typeface="Inter"/>
              </a:rPr>
              <a:t>mắc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UTM Swiss Condensed"/>
                <a:ea typeface="Inter"/>
                <a:cs typeface="Inter"/>
                <a:sym typeface="Inter"/>
              </a:rPr>
              <a:t>bệnh</a:t>
            </a:r>
            <a:endParaRPr sz="2000" dirty="0">
              <a:latin typeface="UTM Swiss Condensed"/>
            </a:endParaRPr>
          </a:p>
        </p:txBody>
      </p:sp>
      <p:sp>
        <p:nvSpPr>
          <p:cNvPr id="12" name="Google Shape;139;p16">
            <a:extLst>
              <a:ext uri="{FF2B5EF4-FFF2-40B4-BE49-F238E27FC236}">
                <a16:creationId xmlns:a16="http://schemas.microsoft.com/office/drawing/2014/main" id="{1DEEFB73-EA2F-F301-D7A9-C111B633907B}"/>
              </a:ext>
            </a:extLst>
          </p:cNvPr>
          <p:cNvSpPr txBox="1"/>
          <p:nvPr/>
        </p:nvSpPr>
        <p:spPr>
          <a:xfrm>
            <a:off x="6677026" y="2803390"/>
            <a:ext cx="4619162" cy="94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5088"/>
                </a:solidFill>
                <a:latin typeface="UTM Swiss Condensed"/>
                <a:ea typeface="Inter"/>
                <a:cs typeface="Inter"/>
                <a:sym typeface="Inter"/>
              </a:rPr>
              <a:t>4-6h</a:t>
            </a:r>
            <a:endParaRPr dirty="0">
              <a:latin typeface="UTM Swiss Condensed"/>
            </a:endParaRPr>
          </a:p>
        </p:txBody>
      </p:sp>
      <p:sp>
        <p:nvSpPr>
          <p:cNvPr id="13" name="Google Shape;140;p16">
            <a:extLst>
              <a:ext uri="{FF2B5EF4-FFF2-40B4-BE49-F238E27FC236}">
                <a16:creationId xmlns:a16="http://schemas.microsoft.com/office/drawing/2014/main" id="{178B849F-B1C6-C103-2E59-3EBF9A4C279B}"/>
              </a:ext>
            </a:extLst>
          </p:cNvPr>
          <p:cNvSpPr txBox="1"/>
          <p:nvPr/>
        </p:nvSpPr>
        <p:spPr>
          <a:xfrm>
            <a:off x="6677026" y="3822565"/>
            <a:ext cx="46191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UTM Swiss Condensed"/>
                <a:ea typeface="Inter"/>
                <a:cs typeface="Inter"/>
                <a:sym typeface="Inter"/>
              </a:rPr>
              <a:t>Thời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UTM Swiss Condensed"/>
                <a:ea typeface="Inter"/>
                <a:cs typeface="Inter"/>
                <a:sym typeface="Inter"/>
              </a:rPr>
              <a:t>gian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UTM Swiss Condensed"/>
                <a:ea typeface="Inter"/>
                <a:cs typeface="Inter"/>
                <a:sym typeface="Inter"/>
              </a:rPr>
              <a:t> soi</a:t>
            </a:r>
            <a:endParaRPr sz="2000" dirty="0">
              <a:latin typeface="UTM Swiss Condensed"/>
            </a:endParaRPr>
          </a:p>
        </p:txBody>
      </p:sp>
      <p:sp>
        <p:nvSpPr>
          <p:cNvPr id="14" name="Google Shape;143;p16">
            <a:extLst>
              <a:ext uri="{FF2B5EF4-FFF2-40B4-BE49-F238E27FC236}">
                <a16:creationId xmlns:a16="http://schemas.microsoft.com/office/drawing/2014/main" id="{0851EBE4-5792-4909-5301-3D87F21F0D83}"/>
              </a:ext>
            </a:extLst>
          </p:cNvPr>
          <p:cNvSpPr txBox="1"/>
          <p:nvPr/>
        </p:nvSpPr>
        <p:spPr>
          <a:xfrm>
            <a:off x="571500" y="5453126"/>
            <a:ext cx="11209683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"Nhu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cầu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cấp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thiết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cho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một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công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cụ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hỗ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trợ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chẩn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đoán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nhanh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và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chính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1" u="none" strike="noStrike" cap="none" dirty="0" err="1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xác</a:t>
            </a:r>
            <a:r>
              <a:rPr lang="en-US" sz="1600" b="0" i="1" u="none" strike="noStrike" cap="none" dirty="0">
                <a:solidFill>
                  <a:schemeClr val="bg1"/>
                </a:solidFill>
                <a:latin typeface="UTM Swiss Condensed"/>
                <a:ea typeface="Inter"/>
                <a:cs typeface="Inter"/>
                <a:sym typeface="Inter"/>
              </a:rPr>
              <a:t>."</a:t>
            </a:r>
            <a:endParaRPr sz="2000" dirty="0">
              <a:solidFill>
                <a:schemeClr val="bg1"/>
              </a:solidFill>
              <a:latin typeface="UTM Swiss Condensed"/>
            </a:endParaRPr>
          </a:p>
        </p:txBody>
      </p:sp>
      <p:sp>
        <p:nvSpPr>
          <p:cNvPr id="15" name="Google Shape;144;p16">
            <a:extLst>
              <a:ext uri="{FF2B5EF4-FFF2-40B4-BE49-F238E27FC236}">
                <a16:creationId xmlns:a16="http://schemas.microsoft.com/office/drawing/2014/main" id="{D9A3F28A-8ED8-C88B-FEEB-22D83DACE914}"/>
              </a:ext>
            </a:extLst>
          </p:cNvPr>
          <p:cNvSpPr txBox="1"/>
          <p:nvPr/>
        </p:nvSpPr>
        <p:spPr>
          <a:xfrm>
            <a:off x="962026" y="4194040"/>
            <a:ext cx="4619162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Tỷ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lệ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người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mắc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bệnh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viêm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loét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dạ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dày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-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tá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tràng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tại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Việt Nam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là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rất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cao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.</a:t>
            </a:r>
            <a:endParaRPr sz="2400" dirty="0">
              <a:latin typeface="UTM Swiss Condensed"/>
            </a:endParaRPr>
          </a:p>
        </p:txBody>
      </p:sp>
      <p:sp>
        <p:nvSpPr>
          <p:cNvPr id="16" name="Google Shape;145;p16">
            <a:extLst>
              <a:ext uri="{FF2B5EF4-FFF2-40B4-BE49-F238E27FC236}">
                <a16:creationId xmlns:a16="http://schemas.microsoft.com/office/drawing/2014/main" id="{F4F09ABF-C604-796A-A8A3-A5DD13CC3D97}"/>
              </a:ext>
            </a:extLst>
          </p:cNvPr>
          <p:cNvSpPr txBox="1"/>
          <p:nvPr/>
        </p:nvSpPr>
        <p:spPr>
          <a:xfrm>
            <a:off x="6677026" y="4194040"/>
            <a:ext cx="4619162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Bác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sĩ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phải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xem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video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nội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soi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viên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nang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kéo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dài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nhiều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giờ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,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gây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áp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lực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lớn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.</a:t>
            </a:r>
            <a:endParaRPr sz="2400" dirty="0">
              <a:latin typeface="UTM Swis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01271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F9A17-8CC8-799C-6E90-B74688D1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6;p14">
            <a:extLst>
              <a:ext uri="{FF2B5EF4-FFF2-40B4-BE49-F238E27FC236}">
                <a16:creationId xmlns:a16="http://schemas.microsoft.com/office/drawing/2014/main" id="{F38FD804-832B-59E9-64AC-05522BAEC07D}"/>
              </a:ext>
            </a:extLst>
          </p:cNvPr>
          <p:cNvSpPr txBox="1"/>
          <p:nvPr/>
        </p:nvSpPr>
        <p:spPr>
          <a:xfrm>
            <a:off x="590549" y="1378666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b="1" i="0" u="none" strike="noStrike" cap="none" dirty="0">
                <a:solidFill>
                  <a:schemeClr val="bg1"/>
                </a:solidFill>
                <a:latin typeface="UTM Swiss Condensed"/>
                <a:ea typeface="Merriweather"/>
                <a:cs typeface="Merriweather"/>
                <a:sym typeface="Merriweather"/>
              </a:rPr>
              <a:t>Các tính năng chính</a:t>
            </a:r>
            <a:endParaRPr sz="3600" dirty="0">
              <a:solidFill>
                <a:schemeClr val="bg1"/>
              </a:solidFill>
              <a:latin typeface="UTM Swiss Condensed"/>
            </a:endParaRPr>
          </a:p>
        </p:txBody>
      </p:sp>
      <p:sp>
        <p:nvSpPr>
          <p:cNvPr id="5" name="Google Shape;97;p14">
            <a:extLst>
              <a:ext uri="{FF2B5EF4-FFF2-40B4-BE49-F238E27FC236}">
                <a16:creationId xmlns:a16="http://schemas.microsoft.com/office/drawing/2014/main" id="{88E63957-F9EB-9DFC-B708-6E87D51D9762}"/>
              </a:ext>
            </a:extLst>
          </p:cNvPr>
          <p:cNvSpPr/>
          <p:nvPr/>
        </p:nvSpPr>
        <p:spPr>
          <a:xfrm>
            <a:off x="571500" y="1954651"/>
            <a:ext cx="11049000" cy="61258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UTM Swiss Condensed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51;p17" descr="image.png">
            <a:extLst>
              <a:ext uri="{FF2B5EF4-FFF2-40B4-BE49-F238E27FC236}">
                <a16:creationId xmlns:a16="http://schemas.microsoft.com/office/drawing/2014/main" id="{57A09CA6-2174-AB22-607B-44F0D03FF7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2758529"/>
            <a:ext cx="3606850" cy="2641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52;p17" descr="image.png">
            <a:extLst>
              <a:ext uri="{FF2B5EF4-FFF2-40B4-BE49-F238E27FC236}">
                <a16:creationId xmlns:a16="http://schemas.microsoft.com/office/drawing/2014/main" id="{11F0FDCC-ED82-4163-CF12-FF4D35C7A5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9650" y="2758529"/>
            <a:ext cx="3607004" cy="2641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3;p17" descr="image.png">
            <a:extLst>
              <a:ext uri="{FF2B5EF4-FFF2-40B4-BE49-F238E27FC236}">
                <a16:creationId xmlns:a16="http://schemas.microsoft.com/office/drawing/2014/main" id="{9026BB49-971A-5553-A0AB-441F888FCC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758529"/>
            <a:ext cx="3606850" cy="2641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4;p17" descr="image.png">
            <a:extLst>
              <a:ext uri="{FF2B5EF4-FFF2-40B4-BE49-F238E27FC236}">
                <a16:creationId xmlns:a16="http://schemas.microsoft.com/office/drawing/2014/main" id="{DB83B83D-D972-61BC-E710-E52FBFBD3D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95725" y="2923367"/>
            <a:ext cx="472183" cy="505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5;p17" descr="image.png">
            <a:extLst>
              <a:ext uri="{FF2B5EF4-FFF2-40B4-BE49-F238E27FC236}">
                <a16:creationId xmlns:a16="http://schemas.microsoft.com/office/drawing/2014/main" id="{A22639BA-7D22-7B97-483A-54ED2D5B4B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73876" y="2923367"/>
            <a:ext cx="472183" cy="505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6;p17" descr="image.png">
            <a:extLst>
              <a:ext uri="{FF2B5EF4-FFF2-40B4-BE49-F238E27FC236}">
                <a16:creationId xmlns:a16="http://schemas.microsoft.com/office/drawing/2014/main" id="{03226B49-EA3C-9EAA-5CD7-CCDD38F59ED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80751" y="2923367"/>
            <a:ext cx="413160" cy="50563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59;p17">
            <a:extLst>
              <a:ext uri="{FF2B5EF4-FFF2-40B4-BE49-F238E27FC236}">
                <a16:creationId xmlns:a16="http://schemas.microsoft.com/office/drawing/2014/main" id="{2A8AE88E-DD43-5F1D-E07E-30C7035A5433}"/>
              </a:ext>
            </a:extLst>
          </p:cNvPr>
          <p:cNvSpPr txBox="1"/>
          <p:nvPr/>
        </p:nvSpPr>
        <p:spPr>
          <a:xfrm>
            <a:off x="800854" y="3567299"/>
            <a:ext cx="31467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UTM Swiss Condensed"/>
                <a:ea typeface="Inter"/>
                <a:cs typeface="Inter"/>
                <a:sym typeface="Inter"/>
              </a:rPr>
              <a:t>Đa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UTM Swiss Condensed"/>
                <a:ea typeface="Inter"/>
                <a:cs typeface="Inter"/>
                <a:sym typeface="Inter"/>
              </a:rPr>
              <a:t>Dạng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UTM Swiss Condensed"/>
                <a:ea typeface="Inter"/>
                <a:cs typeface="Inter"/>
                <a:sym typeface="Inter"/>
              </a:rPr>
              <a:t>Đầu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UTM Swiss Condensed"/>
                <a:ea typeface="Inter"/>
                <a:cs typeface="Inter"/>
                <a:sym typeface="Inter"/>
              </a:rPr>
              <a:t>Vào</a:t>
            </a:r>
            <a:endParaRPr sz="2000" dirty="0">
              <a:latin typeface="UTM Swiss Condensed"/>
            </a:endParaRPr>
          </a:p>
        </p:txBody>
      </p:sp>
      <p:sp>
        <p:nvSpPr>
          <p:cNvPr id="11" name="Google Shape;160;p17">
            <a:extLst>
              <a:ext uri="{FF2B5EF4-FFF2-40B4-BE49-F238E27FC236}">
                <a16:creationId xmlns:a16="http://schemas.microsoft.com/office/drawing/2014/main" id="{1092EC8B-53CE-84E4-6983-5759FF860A3E}"/>
              </a:ext>
            </a:extLst>
          </p:cNvPr>
          <p:cNvSpPr txBox="1"/>
          <p:nvPr/>
        </p:nvSpPr>
        <p:spPr>
          <a:xfrm>
            <a:off x="866774" y="4013375"/>
            <a:ext cx="2996947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Hỗ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trợ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tải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lên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hình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ảnh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, video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nội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soi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hoặc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kết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nối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trực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tiếp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với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camera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thời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gian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thực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.</a:t>
            </a:r>
            <a:endParaRPr sz="2400" dirty="0">
              <a:latin typeface="UTM Swiss Condensed"/>
            </a:endParaRPr>
          </a:p>
        </p:txBody>
      </p:sp>
      <p:sp>
        <p:nvSpPr>
          <p:cNvPr id="12" name="Google Shape;161;p17">
            <a:extLst>
              <a:ext uri="{FF2B5EF4-FFF2-40B4-BE49-F238E27FC236}">
                <a16:creationId xmlns:a16="http://schemas.microsoft.com/office/drawing/2014/main" id="{0CE80641-12B2-9266-97EB-9F2D3F0C21C1}"/>
              </a:ext>
            </a:extLst>
          </p:cNvPr>
          <p:cNvSpPr txBox="1"/>
          <p:nvPr/>
        </p:nvSpPr>
        <p:spPr>
          <a:xfrm>
            <a:off x="4579001" y="3567299"/>
            <a:ext cx="31469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UTM Swiss Condensed"/>
                <a:ea typeface="Inter"/>
                <a:cs typeface="Inter"/>
                <a:sym typeface="Inter"/>
              </a:rPr>
              <a:t>Chẩn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UTM Swiss Condensed"/>
                <a:ea typeface="Inter"/>
                <a:cs typeface="Inter"/>
                <a:sym typeface="Inter"/>
              </a:rPr>
              <a:t>Đoán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UTM Swiss Condensed"/>
                <a:ea typeface="Inter"/>
                <a:cs typeface="Inter"/>
                <a:sym typeface="Inter"/>
              </a:rPr>
              <a:t> AI</a:t>
            </a:r>
            <a:endParaRPr sz="2000" dirty="0">
              <a:latin typeface="UTM Swiss Condensed"/>
            </a:endParaRPr>
          </a:p>
        </p:txBody>
      </p:sp>
      <p:sp>
        <p:nvSpPr>
          <p:cNvPr id="13" name="Google Shape;162;p17">
            <a:extLst>
              <a:ext uri="{FF2B5EF4-FFF2-40B4-BE49-F238E27FC236}">
                <a16:creationId xmlns:a16="http://schemas.microsoft.com/office/drawing/2014/main" id="{20C12C3F-3B92-322A-BEE5-22B0C9A4D7DF}"/>
              </a:ext>
            </a:extLst>
          </p:cNvPr>
          <p:cNvSpPr txBox="1"/>
          <p:nvPr/>
        </p:nvSpPr>
        <p:spPr>
          <a:xfrm>
            <a:off x="4644925" y="4013375"/>
            <a:ext cx="2997101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Sử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dụng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ResNet50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để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phân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loại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bệnh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và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đưa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ra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kết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quả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dự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đoán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với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độ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tin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cậy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cao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.</a:t>
            </a:r>
            <a:endParaRPr sz="2400" dirty="0">
              <a:latin typeface="UTM Swiss Condensed"/>
            </a:endParaRPr>
          </a:p>
        </p:txBody>
      </p:sp>
      <p:sp>
        <p:nvSpPr>
          <p:cNvPr id="14" name="Google Shape;163;p17">
            <a:extLst>
              <a:ext uri="{FF2B5EF4-FFF2-40B4-BE49-F238E27FC236}">
                <a16:creationId xmlns:a16="http://schemas.microsoft.com/office/drawing/2014/main" id="{A5388366-53F8-C34A-58FB-17EBB7478694}"/>
              </a:ext>
            </a:extLst>
          </p:cNvPr>
          <p:cNvSpPr txBox="1"/>
          <p:nvPr/>
        </p:nvSpPr>
        <p:spPr>
          <a:xfrm>
            <a:off x="8357305" y="3567299"/>
            <a:ext cx="31467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F172A"/>
                </a:solidFill>
                <a:latin typeface="UTM Swiss Condensed"/>
                <a:ea typeface="Inter"/>
                <a:cs typeface="Inter"/>
                <a:sym typeface="Inter"/>
              </a:rPr>
              <a:t>Khoanh Vùng (ROI)</a:t>
            </a:r>
            <a:endParaRPr sz="2000">
              <a:latin typeface="UTM Swiss Condensed"/>
            </a:endParaRPr>
          </a:p>
        </p:txBody>
      </p:sp>
      <p:sp>
        <p:nvSpPr>
          <p:cNvPr id="15" name="Google Shape;164;p17">
            <a:extLst>
              <a:ext uri="{FF2B5EF4-FFF2-40B4-BE49-F238E27FC236}">
                <a16:creationId xmlns:a16="http://schemas.microsoft.com/office/drawing/2014/main" id="{56C8C4DF-262B-0EA1-1815-4633CCFC747A}"/>
              </a:ext>
            </a:extLst>
          </p:cNvPr>
          <p:cNvSpPr txBox="1"/>
          <p:nvPr/>
        </p:nvSpPr>
        <p:spPr>
          <a:xfrm>
            <a:off x="8423224" y="4013375"/>
            <a:ext cx="2996947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Tích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hợp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YOLOv8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để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vẽ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khung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(bounding box)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trực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quan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ngay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tại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vị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trí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tổn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thương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TM Swiss Condensed"/>
                <a:ea typeface="Inter"/>
                <a:cs typeface="Inter"/>
                <a:sym typeface="Inter"/>
              </a:rPr>
              <a:t>.</a:t>
            </a:r>
            <a:endParaRPr sz="2400" dirty="0">
              <a:latin typeface="UTM Swis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271192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BCF2-C6BB-EAFC-8885-A720C3010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85;p13" descr="image.png">
            <a:extLst>
              <a:ext uri="{FF2B5EF4-FFF2-40B4-BE49-F238E27FC236}">
                <a16:creationId xmlns:a16="http://schemas.microsoft.com/office/drawing/2014/main" id="{F73F8A75-407C-4786-306C-A940B21090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4545" y="4329191"/>
            <a:ext cx="3245955" cy="195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85;p13" descr="image.png">
            <a:extLst>
              <a:ext uri="{FF2B5EF4-FFF2-40B4-BE49-F238E27FC236}">
                <a16:creationId xmlns:a16="http://schemas.microsoft.com/office/drawing/2014/main" id="{9C1C04DE-7F5A-0D00-1E4A-9ABCE1220F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4545" y="2214781"/>
            <a:ext cx="3245955" cy="195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85;p13" descr="image.png">
            <a:extLst>
              <a:ext uri="{FF2B5EF4-FFF2-40B4-BE49-F238E27FC236}">
                <a16:creationId xmlns:a16="http://schemas.microsoft.com/office/drawing/2014/main" id="{0EC4916C-1C67-766C-8F45-94F07A1DD5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5311" y="4329192"/>
            <a:ext cx="3245955" cy="195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85;p13" descr="image.png">
            <a:extLst>
              <a:ext uri="{FF2B5EF4-FFF2-40B4-BE49-F238E27FC236}">
                <a16:creationId xmlns:a16="http://schemas.microsoft.com/office/drawing/2014/main" id="{DBB4148B-1B34-9AAD-4458-D660D34665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3886" y="2217968"/>
            <a:ext cx="3245955" cy="19564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6;p14">
            <a:extLst>
              <a:ext uri="{FF2B5EF4-FFF2-40B4-BE49-F238E27FC236}">
                <a16:creationId xmlns:a16="http://schemas.microsoft.com/office/drawing/2014/main" id="{D2330842-ED1F-367D-099C-032F26230249}"/>
              </a:ext>
            </a:extLst>
          </p:cNvPr>
          <p:cNvSpPr txBox="1"/>
          <p:nvPr/>
        </p:nvSpPr>
        <p:spPr>
          <a:xfrm>
            <a:off x="590549" y="1378666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b="1" i="0" u="none" strike="noStrike" cap="none" dirty="0">
                <a:solidFill>
                  <a:schemeClr val="bg1"/>
                </a:solidFill>
                <a:latin typeface="UTM Swiss Condensed"/>
                <a:ea typeface="Merriweather"/>
                <a:cs typeface="Merriweather"/>
                <a:sym typeface="Merriweather"/>
              </a:rPr>
              <a:t>Công nghệ ứng dụng</a:t>
            </a:r>
            <a:endParaRPr sz="3600" dirty="0">
              <a:solidFill>
                <a:schemeClr val="bg1"/>
              </a:solidFill>
              <a:latin typeface="UTM Swiss Condensed"/>
            </a:endParaRPr>
          </a:p>
        </p:txBody>
      </p:sp>
      <p:sp>
        <p:nvSpPr>
          <p:cNvPr id="5" name="Google Shape;97;p14">
            <a:extLst>
              <a:ext uri="{FF2B5EF4-FFF2-40B4-BE49-F238E27FC236}">
                <a16:creationId xmlns:a16="http://schemas.microsoft.com/office/drawing/2014/main" id="{5002A219-F949-0E85-43B4-0BE20788EDEE}"/>
              </a:ext>
            </a:extLst>
          </p:cNvPr>
          <p:cNvSpPr/>
          <p:nvPr/>
        </p:nvSpPr>
        <p:spPr>
          <a:xfrm>
            <a:off x="571500" y="1954651"/>
            <a:ext cx="11049000" cy="61258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UTM Swiss Condensed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5;p13" descr="image.png">
            <a:extLst>
              <a:ext uri="{FF2B5EF4-FFF2-40B4-BE49-F238E27FC236}">
                <a16:creationId xmlns:a16="http://schemas.microsoft.com/office/drawing/2014/main" id="{D082A728-4EC4-9599-28D7-7C94DE9965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93244"/>
            <a:ext cx="3245955" cy="195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9;p13" descr="image.png">
            <a:extLst>
              <a:ext uri="{FF2B5EF4-FFF2-40B4-BE49-F238E27FC236}">
                <a16:creationId xmlns:a16="http://schemas.microsoft.com/office/drawing/2014/main" id="{8239CC59-96AE-F78B-A3D0-B8BA1B8C25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49" y="4329192"/>
            <a:ext cx="3245955" cy="195716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94;p13">
            <a:extLst>
              <a:ext uri="{FF2B5EF4-FFF2-40B4-BE49-F238E27FC236}">
                <a16:creationId xmlns:a16="http://schemas.microsoft.com/office/drawing/2014/main" id="{1F7AD653-ECD0-1A4B-69ED-C0E6F9AABD1D}"/>
              </a:ext>
            </a:extLst>
          </p:cNvPr>
          <p:cNvSpPr txBox="1"/>
          <p:nvPr/>
        </p:nvSpPr>
        <p:spPr>
          <a:xfrm>
            <a:off x="3221312" y="2376867"/>
            <a:ext cx="4381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01</a:t>
            </a:r>
            <a:endParaRPr dirty="0">
              <a:latin typeface="UTM Swiss Condensed"/>
            </a:endParaRPr>
          </a:p>
        </p:txBody>
      </p:sp>
      <p:sp>
        <p:nvSpPr>
          <p:cNvPr id="15" name="Google Shape;95;p13">
            <a:extLst>
              <a:ext uri="{FF2B5EF4-FFF2-40B4-BE49-F238E27FC236}">
                <a16:creationId xmlns:a16="http://schemas.microsoft.com/office/drawing/2014/main" id="{46EDA5C3-18F5-4E42-BF04-B5908899D44D}"/>
              </a:ext>
            </a:extLst>
          </p:cNvPr>
          <p:cNvSpPr txBox="1"/>
          <p:nvPr/>
        </p:nvSpPr>
        <p:spPr>
          <a:xfrm>
            <a:off x="7081941" y="2389015"/>
            <a:ext cx="4381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02</a:t>
            </a:r>
            <a:endParaRPr dirty="0">
              <a:latin typeface="UTM Swiss Condensed"/>
            </a:endParaRPr>
          </a:p>
        </p:txBody>
      </p:sp>
      <p:sp>
        <p:nvSpPr>
          <p:cNvPr id="18" name="Google Shape;98;p13">
            <a:extLst>
              <a:ext uri="{FF2B5EF4-FFF2-40B4-BE49-F238E27FC236}">
                <a16:creationId xmlns:a16="http://schemas.microsoft.com/office/drawing/2014/main" id="{A9371F7C-865A-2209-A618-89FF0DF77CE4}"/>
              </a:ext>
            </a:extLst>
          </p:cNvPr>
          <p:cNvSpPr txBox="1"/>
          <p:nvPr/>
        </p:nvSpPr>
        <p:spPr>
          <a:xfrm>
            <a:off x="3221312" y="4491278"/>
            <a:ext cx="4381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000" b="1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04</a:t>
            </a:r>
            <a:endParaRPr dirty="0">
              <a:latin typeface="UTM Swiss Condensed"/>
            </a:endParaRPr>
          </a:p>
        </p:txBody>
      </p:sp>
      <p:sp>
        <p:nvSpPr>
          <p:cNvPr id="19" name="Google Shape;99;p13">
            <a:extLst>
              <a:ext uri="{FF2B5EF4-FFF2-40B4-BE49-F238E27FC236}">
                <a16:creationId xmlns:a16="http://schemas.microsoft.com/office/drawing/2014/main" id="{548F48C3-8C4C-CC7E-184D-0871893D8410}"/>
              </a:ext>
            </a:extLst>
          </p:cNvPr>
          <p:cNvSpPr txBox="1"/>
          <p:nvPr/>
        </p:nvSpPr>
        <p:spPr>
          <a:xfrm>
            <a:off x="7081941" y="4503426"/>
            <a:ext cx="4381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000" b="1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05</a:t>
            </a:r>
            <a:endParaRPr dirty="0">
              <a:latin typeface="UTM Swiss Condensed"/>
            </a:endParaRPr>
          </a:p>
        </p:txBody>
      </p:sp>
      <p:sp>
        <p:nvSpPr>
          <p:cNvPr id="20" name="Google Shape;100;p13">
            <a:extLst>
              <a:ext uri="{FF2B5EF4-FFF2-40B4-BE49-F238E27FC236}">
                <a16:creationId xmlns:a16="http://schemas.microsoft.com/office/drawing/2014/main" id="{14C83E9C-413E-AE1F-A083-302BC8E776D4}"/>
              </a:ext>
            </a:extLst>
          </p:cNvPr>
          <p:cNvSpPr txBox="1"/>
          <p:nvPr/>
        </p:nvSpPr>
        <p:spPr>
          <a:xfrm>
            <a:off x="11029950" y="4431477"/>
            <a:ext cx="4381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000" b="1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06</a:t>
            </a:r>
            <a:endParaRPr dirty="0">
              <a:latin typeface="UTM Swiss Condensed"/>
            </a:endParaRPr>
          </a:p>
        </p:txBody>
      </p:sp>
      <p:sp>
        <p:nvSpPr>
          <p:cNvPr id="21" name="Google Shape;101;p13">
            <a:extLst>
              <a:ext uri="{FF2B5EF4-FFF2-40B4-BE49-F238E27FC236}">
                <a16:creationId xmlns:a16="http://schemas.microsoft.com/office/drawing/2014/main" id="{B7737CD5-CF3C-E4C5-18CF-0ACAD709E0C7}"/>
              </a:ext>
            </a:extLst>
          </p:cNvPr>
          <p:cNvSpPr txBox="1"/>
          <p:nvPr/>
        </p:nvSpPr>
        <p:spPr>
          <a:xfrm>
            <a:off x="11029951" y="2317066"/>
            <a:ext cx="4381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000" b="1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03</a:t>
            </a:r>
            <a:endParaRPr dirty="0">
              <a:latin typeface="UTM Swiss Condensed"/>
            </a:endParaRPr>
          </a:p>
        </p:txBody>
      </p:sp>
      <p:pic>
        <p:nvPicPr>
          <p:cNvPr id="22" name="Google Shape;102;p13" descr="image.png">
            <a:extLst>
              <a:ext uri="{FF2B5EF4-FFF2-40B4-BE49-F238E27FC236}">
                <a16:creationId xmlns:a16="http://schemas.microsoft.com/office/drawing/2014/main" id="{76D8C642-B0A1-D37A-F3EA-6F7FDBF9A38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574" y="2374503"/>
            <a:ext cx="476250" cy="46643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03;p13">
            <a:extLst>
              <a:ext uri="{FF2B5EF4-FFF2-40B4-BE49-F238E27FC236}">
                <a16:creationId xmlns:a16="http://schemas.microsoft.com/office/drawing/2014/main" id="{2F097872-F743-3C7B-192A-CEDE2812000C}"/>
              </a:ext>
            </a:extLst>
          </p:cNvPr>
          <p:cNvSpPr txBox="1"/>
          <p:nvPr/>
        </p:nvSpPr>
        <p:spPr>
          <a:xfrm>
            <a:off x="771525" y="2853983"/>
            <a:ext cx="22312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E293B"/>
                </a:solidFill>
                <a:latin typeface="UTM Swiss Condensed"/>
                <a:ea typeface="Montserrat"/>
                <a:cs typeface="Montserrat"/>
                <a:sym typeface="Montserrat"/>
              </a:rPr>
              <a:t>ResNet50 (CNN)</a:t>
            </a:r>
            <a:endParaRPr sz="2000" dirty="0">
              <a:latin typeface="UTM Swiss Condensed"/>
            </a:endParaRPr>
          </a:p>
        </p:txBody>
      </p:sp>
      <p:sp>
        <p:nvSpPr>
          <p:cNvPr id="24" name="Google Shape;104;p13">
            <a:extLst>
              <a:ext uri="{FF2B5EF4-FFF2-40B4-BE49-F238E27FC236}">
                <a16:creationId xmlns:a16="http://schemas.microsoft.com/office/drawing/2014/main" id="{AD5CE6D5-357C-AC6E-D33D-14CE491682C7}"/>
              </a:ext>
            </a:extLst>
          </p:cNvPr>
          <p:cNvSpPr txBox="1"/>
          <p:nvPr/>
        </p:nvSpPr>
        <p:spPr>
          <a:xfrm>
            <a:off x="771525" y="3139733"/>
            <a:ext cx="2948608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Mô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hình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Backbone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học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sâu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với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50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lớp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,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chuyên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biệt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phân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loại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bệnh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(Polyp,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Viêm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loét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)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với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độ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chính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xác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cao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.</a:t>
            </a:r>
            <a:endParaRPr sz="2800" dirty="0">
              <a:latin typeface="UTM Swiss Condensed"/>
            </a:endParaRPr>
          </a:p>
        </p:txBody>
      </p:sp>
      <p:pic>
        <p:nvPicPr>
          <p:cNvPr id="25" name="Google Shape;105;p13" descr="image.png">
            <a:extLst>
              <a:ext uri="{FF2B5EF4-FFF2-40B4-BE49-F238E27FC236}">
                <a16:creationId xmlns:a16="http://schemas.microsoft.com/office/drawing/2014/main" id="{86060488-6972-B98C-00AA-55B27659724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5094" y="2414986"/>
            <a:ext cx="476250" cy="46643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06;p13">
            <a:extLst>
              <a:ext uri="{FF2B5EF4-FFF2-40B4-BE49-F238E27FC236}">
                <a16:creationId xmlns:a16="http://schemas.microsoft.com/office/drawing/2014/main" id="{6E46CA46-FCEB-6CE7-8CA3-E498C99FF26E}"/>
              </a:ext>
            </a:extLst>
          </p:cNvPr>
          <p:cNvSpPr txBox="1"/>
          <p:nvPr/>
        </p:nvSpPr>
        <p:spPr>
          <a:xfrm>
            <a:off x="4632154" y="2853982"/>
            <a:ext cx="22312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E293B"/>
                </a:solidFill>
                <a:latin typeface="UTM Swiss Condensed"/>
                <a:ea typeface="Montserrat"/>
                <a:cs typeface="Montserrat"/>
                <a:sym typeface="Montserrat"/>
              </a:rPr>
              <a:t>YOLOv8 Detection</a:t>
            </a:r>
            <a:endParaRPr sz="2000" dirty="0">
              <a:latin typeface="UTM Swiss Condensed"/>
            </a:endParaRPr>
          </a:p>
        </p:txBody>
      </p:sp>
      <p:sp>
        <p:nvSpPr>
          <p:cNvPr id="27" name="Google Shape;107;p13">
            <a:extLst>
              <a:ext uri="{FF2B5EF4-FFF2-40B4-BE49-F238E27FC236}">
                <a16:creationId xmlns:a16="http://schemas.microsoft.com/office/drawing/2014/main" id="{9570B876-A8F7-A267-E6A4-4B00421FD8C4}"/>
              </a:ext>
            </a:extLst>
          </p:cNvPr>
          <p:cNvSpPr txBox="1"/>
          <p:nvPr/>
        </p:nvSpPr>
        <p:spPr>
          <a:xfrm>
            <a:off x="4632154" y="3139733"/>
            <a:ext cx="2889283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Thuật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toán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phát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hiện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vật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thể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thời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gian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thực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,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tự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động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khoanh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vùng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(ROI)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vị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trí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tổn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thương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endParaRPr sz="2800" dirty="0">
              <a:latin typeface="UTM Swiss Condensed"/>
            </a:endParaRPr>
          </a:p>
        </p:txBody>
      </p:sp>
      <p:pic>
        <p:nvPicPr>
          <p:cNvPr id="34" name="Google Shape;114;p13" descr="image.png">
            <a:extLst>
              <a:ext uri="{FF2B5EF4-FFF2-40B4-BE49-F238E27FC236}">
                <a16:creationId xmlns:a16="http://schemas.microsoft.com/office/drawing/2014/main" id="{3E7104B0-6116-1B77-CA20-4E4E623482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574" y="4488914"/>
            <a:ext cx="476250" cy="46643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115;p13">
            <a:extLst>
              <a:ext uri="{FF2B5EF4-FFF2-40B4-BE49-F238E27FC236}">
                <a16:creationId xmlns:a16="http://schemas.microsoft.com/office/drawing/2014/main" id="{F86FABCD-24FB-5D0F-A6D6-418602B5FB93}"/>
              </a:ext>
            </a:extLst>
          </p:cNvPr>
          <p:cNvSpPr txBox="1"/>
          <p:nvPr/>
        </p:nvSpPr>
        <p:spPr>
          <a:xfrm>
            <a:off x="771525" y="4968394"/>
            <a:ext cx="22312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UTM Swiss Condensed"/>
                <a:ea typeface="Montserrat"/>
                <a:cs typeface="Montserrat"/>
                <a:sym typeface="Montserrat"/>
              </a:rPr>
              <a:t>Python &amp; Flask</a:t>
            </a:r>
            <a:endParaRPr sz="2000">
              <a:latin typeface="UTM Swiss Condensed"/>
            </a:endParaRPr>
          </a:p>
        </p:txBody>
      </p:sp>
      <p:sp>
        <p:nvSpPr>
          <p:cNvPr id="36" name="Google Shape;116;p13">
            <a:extLst>
              <a:ext uri="{FF2B5EF4-FFF2-40B4-BE49-F238E27FC236}">
                <a16:creationId xmlns:a16="http://schemas.microsoft.com/office/drawing/2014/main" id="{BE6320DE-4DC8-C45C-43D9-B74F26CB2D44}"/>
              </a:ext>
            </a:extLst>
          </p:cNvPr>
          <p:cNvSpPr txBox="1"/>
          <p:nvPr/>
        </p:nvSpPr>
        <p:spPr>
          <a:xfrm>
            <a:off x="771525" y="5254144"/>
            <a:ext cx="2891458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Ngôn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ngữ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lập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trình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chính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và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Micro-framework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xây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dựng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RESTful API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kết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nối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AI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với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ứng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dụng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Web.</a:t>
            </a:r>
            <a:endParaRPr sz="2800" dirty="0">
              <a:latin typeface="UTM Swiss Condensed"/>
            </a:endParaRPr>
          </a:p>
        </p:txBody>
      </p:sp>
      <p:pic>
        <p:nvPicPr>
          <p:cNvPr id="37" name="Google Shape;117;p13" descr="image.png">
            <a:extLst>
              <a:ext uri="{FF2B5EF4-FFF2-40B4-BE49-F238E27FC236}">
                <a16:creationId xmlns:a16="http://schemas.microsoft.com/office/drawing/2014/main" id="{70EE82C8-DB7F-ADDF-9D23-EFFB4ADFE93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5094" y="4473838"/>
            <a:ext cx="476250" cy="4664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118;p13">
            <a:extLst>
              <a:ext uri="{FF2B5EF4-FFF2-40B4-BE49-F238E27FC236}">
                <a16:creationId xmlns:a16="http://schemas.microsoft.com/office/drawing/2014/main" id="{5778B205-208D-6EC2-7515-77E428A5C496}"/>
              </a:ext>
            </a:extLst>
          </p:cNvPr>
          <p:cNvSpPr txBox="1"/>
          <p:nvPr/>
        </p:nvSpPr>
        <p:spPr>
          <a:xfrm>
            <a:off x="4632154" y="4967903"/>
            <a:ext cx="22312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E293B"/>
                </a:solidFill>
                <a:latin typeface="UTM Swiss Condensed"/>
                <a:ea typeface="Montserrat"/>
                <a:cs typeface="Montserrat"/>
                <a:sym typeface="Montserrat"/>
              </a:rPr>
              <a:t>HTML5 / CSS3 / JS</a:t>
            </a:r>
            <a:endParaRPr sz="2000" dirty="0">
              <a:latin typeface="UTM Swiss Condensed"/>
            </a:endParaRPr>
          </a:p>
        </p:txBody>
      </p:sp>
      <p:sp>
        <p:nvSpPr>
          <p:cNvPr id="39" name="Google Shape;119;p13">
            <a:extLst>
              <a:ext uri="{FF2B5EF4-FFF2-40B4-BE49-F238E27FC236}">
                <a16:creationId xmlns:a16="http://schemas.microsoft.com/office/drawing/2014/main" id="{1CF12B15-FC8B-0F27-524E-A87C244FEAC9}"/>
              </a:ext>
            </a:extLst>
          </p:cNvPr>
          <p:cNvSpPr txBox="1"/>
          <p:nvPr/>
        </p:nvSpPr>
        <p:spPr>
          <a:xfrm>
            <a:off x="4632155" y="5254144"/>
            <a:ext cx="2889282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Giao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diện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người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dùng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trực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quan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, Responsive,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hiển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thị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kết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quả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chẩn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đoán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và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video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nội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soi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mượt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mà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.</a:t>
            </a:r>
            <a:endParaRPr sz="2800" dirty="0">
              <a:latin typeface="UTM Swiss Condensed"/>
            </a:endParaRPr>
          </a:p>
        </p:txBody>
      </p:sp>
      <p:pic>
        <p:nvPicPr>
          <p:cNvPr id="40" name="Google Shape;120;p13" descr="image.png">
            <a:extLst>
              <a:ext uri="{FF2B5EF4-FFF2-40B4-BE49-F238E27FC236}">
                <a16:creationId xmlns:a16="http://schemas.microsoft.com/office/drawing/2014/main" id="{9D7F2801-E3C9-7451-4EEA-C97FB5A95A1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27166" y="4467712"/>
            <a:ext cx="476250" cy="46643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121;p13">
            <a:extLst>
              <a:ext uri="{FF2B5EF4-FFF2-40B4-BE49-F238E27FC236}">
                <a16:creationId xmlns:a16="http://schemas.microsoft.com/office/drawing/2014/main" id="{CB2865DD-F338-C6E2-17F2-9065C1EF2214}"/>
              </a:ext>
            </a:extLst>
          </p:cNvPr>
          <p:cNvSpPr txBox="1"/>
          <p:nvPr/>
        </p:nvSpPr>
        <p:spPr>
          <a:xfrm>
            <a:off x="8608117" y="4961558"/>
            <a:ext cx="22312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E293B"/>
                </a:solidFill>
                <a:latin typeface="UTM Swiss Condensed"/>
                <a:ea typeface="Montserrat"/>
                <a:cs typeface="Montserrat"/>
                <a:sym typeface="Montserrat"/>
              </a:rPr>
              <a:t>Kvasir Dataset</a:t>
            </a:r>
            <a:endParaRPr sz="2000" dirty="0">
              <a:latin typeface="UTM Swiss Condensed"/>
            </a:endParaRPr>
          </a:p>
        </p:txBody>
      </p:sp>
      <p:sp>
        <p:nvSpPr>
          <p:cNvPr id="42" name="Google Shape;122;p13">
            <a:extLst>
              <a:ext uri="{FF2B5EF4-FFF2-40B4-BE49-F238E27FC236}">
                <a16:creationId xmlns:a16="http://schemas.microsoft.com/office/drawing/2014/main" id="{7EC3B42D-8244-1B87-403A-F71034A0D7A6}"/>
              </a:ext>
            </a:extLst>
          </p:cNvPr>
          <p:cNvSpPr txBox="1"/>
          <p:nvPr/>
        </p:nvSpPr>
        <p:spPr>
          <a:xfrm>
            <a:off x="8608117" y="5254144"/>
            <a:ext cx="279331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Bộ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dữ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liệu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chuẩn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y khoa (10,000+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ảnh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)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được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gán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nhãn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chuyên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gia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,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dùng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để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huấn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luyện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và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kiểm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thử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.</a:t>
            </a:r>
            <a:endParaRPr sz="2800" dirty="0">
              <a:latin typeface="UTM Swiss Condensed"/>
            </a:endParaRPr>
          </a:p>
        </p:txBody>
      </p:sp>
      <p:sp>
        <p:nvSpPr>
          <p:cNvPr id="43" name="Google Shape;123;p13">
            <a:extLst>
              <a:ext uri="{FF2B5EF4-FFF2-40B4-BE49-F238E27FC236}">
                <a16:creationId xmlns:a16="http://schemas.microsoft.com/office/drawing/2014/main" id="{5F55F48C-060F-8A78-FB11-DB59E7627D33}"/>
              </a:ext>
            </a:extLst>
          </p:cNvPr>
          <p:cNvSpPr txBox="1"/>
          <p:nvPr/>
        </p:nvSpPr>
        <p:spPr>
          <a:xfrm>
            <a:off x="8608117" y="2853982"/>
            <a:ext cx="22312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E293B"/>
                </a:solidFill>
                <a:latin typeface="UTM Swiss Condensed"/>
                <a:ea typeface="Montserrat"/>
                <a:cs typeface="Montserrat"/>
                <a:sym typeface="Montserrat"/>
              </a:rPr>
              <a:t>5-Fold Cross Val</a:t>
            </a:r>
            <a:endParaRPr sz="2000" dirty="0">
              <a:latin typeface="UTM Swiss Condensed"/>
            </a:endParaRPr>
          </a:p>
        </p:txBody>
      </p:sp>
      <p:sp>
        <p:nvSpPr>
          <p:cNvPr id="44" name="Google Shape;124;p13">
            <a:extLst>
              <a:ext uri="{FF2B5EF4-FFF2-40B4-BE49-F238E27FC236}">
                <a16:creationId xmlns:a16="http://schemas.microsoft.com/office/drawing/2014/main" id="{8030491D-10D9-AEF4-8DA1-233D20960B4D}"/>
              </a:ext>
            </a:extLst>
          </p:cNvPr>
          <p:cNvSpPr txBox="1"/>
          <p:nvPr/>
        </p:nvSpPr>
        <p:spPr>
          <a:xfrm>
            <a:off x="8608117" y="3139733"/>
            <a:ext cx="2793309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Phương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pháp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kiểm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định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chéo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chia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tập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dữ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liệu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thành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5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phần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,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đảm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bảo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mô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hình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không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dirty="0" err="1">
                <a:latin typeface="UTM Swiss Condensed"/>
                <a:ea typeface="Roboto"/>
                <a:cs typeface="Roboto"/>
                <a:sym typeface="Roboto"/>
              </a:rPr>
              <a:t>bị</a:t>
            </a:r>
            <a:r>
              <a:rPr lang="en-US" sz="1400" b="0" i="0" u="none" strike="noStrike" cap="none" dirty="0">
                <a:latin typeface="UTM Swiss Condensed"/>
                <a:ea typeface="Roboto"/>
                <a:cs typeface="Roboto"/>
                <a:sym typeface="Roboto"/>
              </a:rPr>
              <a:t> Overfitting.</a:t>
            </a:r>
            <a:endParaRPr sz="2800" dirty="0">
              <a:latin typeface="UTM Swiss Condensed"/>
            </a:endParaRPr>
          </a:p>
        </p:txBody>
      </p:sp>
      <p:pic>
        <p:nvPicPr>
          <p:cNvPr id="45" name="Google Shape;125;p13" descr="image.png">
            <a:extLst>
              <a:ext uri="{FF2B5EF4-FFF2-40B4-BE49-F238E27FC236}">
                <a16:creationId xmlns:a16="http://schemas.microsoft.com/office/drawing/2014/main" id="{E986CD69-CC21-676A-DE91-975FFF3288C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5824" y="2493226"/>
            <a:ext cx="285750" cy="22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126;p13" descr="image.png">
            <a:extLst>
              <a:ext uri="{FF2B5EF4-FFF2-40B4-BE49-F238E27FC236}">
                <a16:creationId xmlns:a16="http://schemas.microsoft.com/office/drawing/2014/main" id="{FB2DFA5E-0418-80B7-A423-65BE712BBF8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8919" y="2533709"/>
            <a:ext cx="228600" cy="22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129;p13" descr="image.png">
            <a:extLst>
              <a:ext uri="{FF2B5EF4-FFF2-40B4-BE49-F238E27FC236}">
                <a16:creationId xmlns:a16="http://schemas.microsoft.com/office/drawing/2014/main" id="{4611CBD0-FCA9-9357-545A-A8CC65753F7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8686" y="4607637"/>
            <a:ext cx="200025" cy="22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130;p13" descr="image.png">
            <a:extLst>
              <a:ext uri="{FF2B5EF4-FFF2-40B4-BE49-F238E27FC236}">
                <a16:creationId xmlns:a16="http://schemas.microsoft.com/office/drawing/2014/main" id="{4E3E4264-C42D-D63B-6D5C-47B955DDAAE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97494" y="4592561"/>
            <a:ext cx="171450" cy="22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131;p13" descr="image.png">
            <a:extLst>
              <a:ext uri="{FF2B5EF4-FFF2-40B4-BE49-F238E27FC236}">
                <a16:creationId xmlns:a16="http://schemas.microsoft.com/office/drawing/2014/main" id="{BC22AFEF-81F3-C5C9-ADC1-7193EFC3520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65279" y="4586435"/>
            <a:ext cx="200025" cy="22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105;p13" descr="image.png">
            <a:extLst>
              <a:ext uri="{FF2B5EF4-FFF2-40B4-BE49-F238E27FC236}">
                <a16:creationId xmlns:a16="http://schemas.microsoft.com/office/drawing/2014/main" id="{E23BED43-AC50-CFF3-A9DB-2D0826BB7CB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08117" y="2357112"/>
            <a:ext cx="476250" cy="466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E6B6203-73C1-D07A-ECFB-E259CD7C5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228" y="2518751"/>
            <a:ext cx="2381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457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5332F-25C1-B84F-F4DA-EDE9C802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6;p14">
            <a:extLst>
              <a:ext uri="{FF2B5EF4-FFF2-40B4-BE49-F238E27FC236}">
                <a16:creationId xmlns:a16="http://schemas.microsoft.com/office/drawing/2014/main" id="{9BE6D165-5A4B-F5CA-9DA1-7CC72BC96695}"/>
              </a:ext>
            </a:extLst>
          </p:cNvPr>
          <p:cNvSpPr txBox="1"/>
          <p:nvPr/>
        </p:nvSpPr>
        <p:spPr>
          <a:xfrm>
            <a:off x="590549" y="1378666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b="1" i="0" u="none" strike="noStrike" cap="none" dirty="0">
                <a:solidFill>
                  <a:schemeClr val="bg1"/>
                </a:solidFill>
                <a:latin typeface="UTM Swiss Condensed" panose="02000500000000000000"/>
                <a:ea typeface="Merriweather"/>
                <a:cs typeface="Merriweather"/>
                <a:sym typeface="Merriweather"/>
              </a:rPr>
              <a:t>Quy trình hoạt động</a:t>
            </a:r>
            <a:endParaRPr sz="3600" dirty="0">
              <a:solidFill>
                <a:schemeClr val="bg1"/>
              </a:solidFill>
              <a:latin typeface="UTM Swiss Condensed" panose="02000500000000000000"/>
            </a:endParaRPr>
          </a:p>
        </p:txBody>
      </p:sp>
      <p:sp>
        <p:nvSpPr>
          <p:cNvPr id="5" name="Google Shape;97;p14">
            <a:extLst>
              <a:ext uri="{FF2B5EF4-FFF2-40B4-BE49-F238E27FC236}">
                <a16:creationId xmlns:a16="http://schemas.microsoft.com/office/drawing/2014/main" id="{F3D42564-4A5A-6FF5-6C2D-2F4CF2BD7D6D}"/>
              </a:ext>
            </a:extLst>
          </p:cNvPr>
          <p:cNvSpPr/>
          <p:nvPr/>
        </p:nvSpPr>
        <p:spPr>
          <a:xfrm>
            <a:off x="571500" y="1954651"/>
            <a:ext cx="11049000" cy="61258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509600-F630-6E71-0E23-DD058E46C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83" y="2360707"/>
            <a:ext cx="5098415" cy="3035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CF7295-44E8-46A1-971F-ACE93C88278C}"/>
              </a:ext>
            </a:extLst>
          </p:cNvPr>
          <p:cNvSpPr txBox="1"/>
          <p:nvPr/>
        </p:nvSpPr>
        <p:spPr>
          <a:xfrm>
            <a:off x="4161182" y="5479334"/>
            <a:ext cx="6096000" cy="423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365760" algn="just">
              <a:lnSpc>
                <a:spcPct val="130000"/>
              </a:lnSpc>
              <a:spcBef>
                <a:spcPts val="910"/>
              </a:spcBef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bg1"/>
                </a:solidFill>
                <a:effectLst/>
                <a:latin typeface="UTM Swiss Condensed" panose="02000500000000000000"/>
                <a:ea typeface="Calibri" panose="020F0502020204030204" pitchFamily="34" charset="0"/>
                <a:cs typeface="Times New Roman" panose="02020603050405020304" pitchFamily="18" charset="0"/>
              </a:rPr>
              <a:t>Lưu </a:t>
            </a:r>
            <a:r>
              <a:rPr lang="en-US" sz="1800" i="1" dirty="0" err="1">
                <a:solidFill>
                  <a:schemeClr val="bg1"/>
                </a:solidFill>
                <a:effectLst/>
                <a:latin typeface="UTM Swiss Condensed" panose="02000500000000000000"/>
                <a:ea typeface="Calibri" panose="020F0502020204030204" pitchFamily="34" charset="0"/>
                <a:cs typeface="Times New Roman" panose="02020603050405020304" pitchFamily="18" charset="0"/>
              </a:rPr>
              <a:t>đồ</a:t>
            </a:r>
            <a:r>
              <a:rPr lang="en-US" sz="1800" i="1" dirty="0">
                <a:solidFill>
                  <a:schemeClr val="bg1"/>
                </a:solidFill>
                <a:effectLst/>
                <a:latin typeface="UTM Swiss Condensed" panose="0200050000000000000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solidFill>
                  <a:schemeClr val="bg1"/>
                </a:solidFill>
                <a:effectLst/>
                <a:latin typeface="UTM Swiss Condensed" panose="02000500000000000000"/>
                <a:ea typeface="Calibri" panose="020F0502020204030204" pitchFamily="34" charset="0"/>
                <a:cs typeface="Times New Roman" panose="02020603050405020304" pitchFamily="18" charset="0"/>
              </a:rPr>
              <a:t>thuật</a:t>
            </a:r>
            <a:r>
              <a:rPr lang="en-US" sz="1800" i="1" dirty="0">
                <a:solidFill>
                  <a:schemeClr val="bg1"/>
                </a:solidFill>
                <a:effectLst/>
                <a:latin typeface="UTM Swiss Condensed" panose="0200050000000000000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solidFill>
                  <a:schemeClr val="bg1"/>
                </a:solidFill>
                <a:effectLst/>
                <a:latin typeface="UTM Swiss Condensed" panose="02000500000000000000"/>
                <a:ea typeface="Calibri" panose="020F0502020204030204" pitchFamily="34" charset="0"/>
                <a:cs typeface="Times New Roman" panose="02020603050405020304" pitchFamily="18" charset="0"/>
              </a:rPr>
              <a:t>toán</a:t>
            </a:r>
            <a:r>
              <a:rPr lang="en-US" sz="1800" i="1" dirty="0">
                <a:solidFill>
                  <a:schemeClr val="bg1"/>
                </a:solidFill>
                <a:effectLst/>
                <a:latin typeface="UTM Swiss Condensed" panose="0200050000000000000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solidFill>
                  <a:schemeClr val="bg1"/>
                </a:solidFill>
                <a:effectLst/>
                <a:latin typeface="UTM Swiss Condensed" panose="0200050000000000000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1800" i="1" dirty="0">
                <a:solidFill>
                  <a:schemeClr val="bg1"/>
                </a:solidFill>
                <a:effectLst/>
                <a:latin typeface="UTM Swiss Condensed" panose="0200050000000000000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solidFill>
                  <a:schemeClr val="bg1"/>
                </a:solidFill>
                <a:effectLst/>
                <a:latin typeface="UTM Swiss Condensed" panose="0200050000000000000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endParaRPr lang="en-US" sz="1800" dirty="0">
              <a:solidFill>
                <a:schemeClr val="bg1"/>
              </a:solidFill>
              <a:effectLst/>
              <a:latin typeface="UTM Swiss Condensed" panose="0200050000000000000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506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1E5BD-BE6F-65BF-F63E-7853988A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134D11-D264-35A6-886D-23F8764DBC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20" y="2336883"/>
            <a:ext cx="8815562" cy="29155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988D5E-14D2-92CD-6B6F-1FFC4C45196E}"/>
              </a:ext>
            </a:extLst>
          </p:cNvPr>
          <p:cNvSpPr txBox="1"/>
          <p:nvPr/>
        </p:nvSpPr>
        <p:spPr>
          <a:xfrm>
            <a:off x="4161182" y="5479334"/>
            <a:ext cx="6096000" cy="423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365760" algn="just">
              <a:lnSpc>
                <a:spcPct val="130000"/>
              </a:lnSpc>
              <a:spcBef>
                <a:spcPts val="910"/>
              </a:spcBef>
              <a:spcAft>
                <a:spcPts val="600"/>
              </a:spcAft>
              <a:buNone/>
            </a:pPr>
            <a:r>
              <a:rPr lang="vi-VN" sz="1800" i="1" dirty="0">
                <a:solidFill>
                  <a:schemeClr val="bg1"/>
                </a:solidFill>
                <a:effectLst/>
                <a:latin typeface="UTM Swiss Condensed" panose="02000500000000000000"/>
                <a:ea typeface="Calibri" panose="020F0502020204030204" pitchFamily="34" charset="0"/>
                <a:cs typeface="Times New Roman" panose="02020603050405020304" pitchFamily="18" charset="0"/>
              </a:rPr>
              <a:t>Kết quả huấn luyện mô hình</a:t>
            </a:r>
            <a:endParaRPr lang="en-US" sz="1800" dirty="0">
              <a:solidFill>
                <a:schemeClr val="bg1"/>
              </a:solidFill>
              <a:effectLst/>
              <a:latin typeface="UTM Swiss Condensed" panose="0200050000000000000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96;p14">
            <a:extLst>
              <a:ext uri="{FF2B5EF4-FFF2-40B4-BE49-F238E27FC236}">
                <a16:creationId xmlns:a16="http://schemas.microsoft.com/office/drawing/2014/main" id="{3A44AF78-5F24-A2D0-880C-FDE55F3F5ED0}"/>
              </a:ext>
            </a:extLst>
          </p:cNvPr>
          <p:cNvSpPr txBox="1"/>
          <p:nvPr/>
        </p:nvSpPr>
        <p:spPr>
          <a:xfrm>
            <a:off x="590549" y="1378666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b="1" i="0" u="none" strike="noStrike" cap="none" dirty="0">
                <a:solidFill>
                  <a:schemeClr val="bg1"/>
                </a:solidFill>
                <a:latin typeface="UTM Swiss Condensed" panose="02000500000000000000"/>
                <a:ea typeface="Merriweather"/>
                <a:cs typeface="Merriweather"/>
                <a:sym typeface="Merriweather"/>
              </a:rPr>
              <a:t>Kết quả thực </a:t>
            </a:r>
            <a:r>
              <a:rPr lang="vi-VN" sz="3600" b="1" i="0" u="none" strike="noStrike" cap="none">
                <a:solidFill>
                  <a:schemeClr val="bg1"/>
                </a:solidFill>
                <a:latin typeface="UTM Swiss Condensed" panose="02000500000000000000"/>
                <a:ea typeface="Merriweather"/>
                <a:cs typeface="Merriweather"/>
                <a:sym typeface="Merriweather"/>
              </a:rPr>
              <a:t>nghiệm (YOLOv8)</a:t>
            </a:r>
            <a:endParaRPr sz="3600" dirty="0">
              <a:solidFill>
                <a:schemeClr val="bg1"/>
              </a:solidFill>
              <a:latin typeface="UTM Swiss Condensed" panose="02000500000000000000"/>
            </a:endParaRPr>
          </a:p>
        </p:txBody>
      </p:sp>
      <p:sp>
        <p:nvSpPr>
          <p:cNvPr id="7" name="Google Shape;97;p14">
            <a:extLst>
              <a:ext uri="{FF2B5EF4-FFF2-40B4-BE49-F238E27FC236}">
                <a16:creationId xmlns:a16="http://schemas.microsoft.com/office/drawing/2014/main" id="{103FA6F4-C6AF-2709-2E16-B3DC0C62C2E9}"/>
              </a:ext>
            </a:extLst>
          </p:cNvPr>
          <p:cNvSpPr/>
          <p:nvPr/>
        </p:nvSpPr>
        <p:spPr>
          <a:xfrm rot="5400000">
            <a:off x="233157" y="1588418"/>
            <a:ext cx="500055" cy="80551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7180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A9F88-B3D3-2AF8-3B1F-AA33F6462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5942C2C-B422-2ED5-E9B8-4498CDAAA9F4}"/>
              </a:ext>
            </a:extLst>
          </p:cNvPr>
          <p:cNvSpPr/>
          <p:nvPr/>
        </p:nvSpPr>
        <p:spPr>
          <a:xfrm>
            <a:off x="555290" y="2030494"/>
            <a:ext cx="6457949" cy="42433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TM Swiss Condensed" panose="02000500000000000000"/>
            </a:endParaRPr>
          </a:p>
        </p:txBody>
      </p:sp>
      <p:sp>
        <p:nvSpPr>
          <p:cNvPr id="4" name="Google Shape;96;p14">
            <a:extLst>
              <a:ext uri="{FF2B5EF4-FFF2-40B4-BE49-F238E27FC236}">
                <a16:creationId xmlns:a16="http://schemas.microsoft.com/office/drawing/2014/main" id="{FE7136E6-1473-2C86-526F-EE0E385DD8C5}"/>
              </a:ext>
            </a:extLst>
          </p:cNvPr>
          <p:cNvSpPr txBox="1"/>
          <p:nvPr/>
        </p:nvSpPr>
        <p:spPr>
          <a:xfrm>
            <a:off x="590549" y="1378666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b="1" i="0" u="none" strike="noStrike" cap="none" dirty="0">
                <a:solidFill>
                  <a:schemeClr val="bg1"/>
                </a:solidFill>
                <a:latin typeface="UTM Swiss Condensed" panose="02000500000000000000"/>
                <a:ea typeface="Merriweather"/>
                <a:cs typeface="Merriweather"/>
                <a:sym typeface="Merriweather"/>
              </a:rPr>
              <a:t>Kết quả thực nghiệm (5 Fold )</a:t>
            </a:r>
            <a:endParaRPr sz="3600" dirty="0">
              <a:solidFill>
                <a:schemeClr val="bg1"/>
              </a:solidFill>
              <a:latin typeface="UTM Swiss Condensed" panose="02000500000000000000"/>
            </a:endParaRPr>
          </a:p>
        </p:txBody>
      </p:sp>
      <p:sp>
        <p:nvSpPr>
          <p:cNvPr id="5" name="Google Shape;97;p14">
            <a:extLst>
              <a:ext uri="{FF2B5EF4-FFF2-40B4-BE49-F238E27FC236}">
                <a16:creationId xmlns:a16="http://schemas.microsoft.com/office/drawing/2014/main" id="{B1B4F8BF-5F6F-806F-6F15-763C99B20F4B}"/>
              </a:ext>
            </a:extLst>
          </p:cNvPr>
          <p:cNvSpPr/>
          <p:nvPr/>
        </p:nvSpPr>
        <p:spPr>
          <a:xfrm rot="5400000">
            <a:off x="233157" y="1588418"/>
            <a:ext cx="500055" cy="80551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" name="Google Shape;226;p20">
            <a:extLst>
              <a:ext uri="{FF2B5EF4-FFF2-40B4-BE49-F238E27FC236}">
                <a16:creationId xmlns:a16="http://schemas.microsoft.com/office/drawing/2014/main" id="{A9567F0B-BF52-B397-3B3F-1ECCAF7423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7558333"/>
              </p:ext>
            </p:extLst>
          </p:nvPr>
        </p:nvGraphicFramePr>
        <p:xfrm>
          <a:off x="555290" y="2030494"/>
          <a:ext cx="6457950" cy="42481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77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Lần</a:t>
                      </a: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Thử</a:t>
                      </a: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Nghiệm</a:t>
                      </a: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(Fold)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Độ Chính Xác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Fold 1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66.86%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Fold 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61.35%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Fold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69.15%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Fold 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70.95%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Fold 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72.05%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Trung Bình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68.10% ± 3.79%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Google Shape;233;p20">
            <a:extLst>
              <a:ext uri="{FF2B5EF4-FFF2-40B4-BE49-F238E27FC236}">
                <a16:creationId xmlns:a16="http://schemas.microsoft.com/office/drawing/2014/main" id="{7CA9C05A-2A4C-20A0-5CA9-FE0997AB5690}"/>
              </a:ext>
            </a:extLst>
          </p:cNvPr>
          <p:cNvSpPr/>
          <p:nvPr/>
        </p:nvSpPr>
        <p:spPr>
          <a:xfrm>
            <a:off x="555290" y="3263982"/>
            <a:ext cx="3773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34;p20">
            <a:extLst>
              <a:ext uri="{FF2B5EF4-FFF2-40B4-BE49-F238E27FC236}">
                <a16:creationId xmlns:a16="http://schemas.microsoft.com/office/drawing/2014/main" id="{609E9ABF-ED60-3044-0C60-57EA52974715}"/>
              </a:ext>
            </a:extLst>
          </p:cNvPr>
          <p:cNvSpPr/>
          <p:nvPr/>
        </p:nvSpPr>
        <p:spPr>
          <a:xfrm>
            <a:off x="4328975" y="3263982"/>
            <a:ext cx="2684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35;p20">
            <a:extLst>
              <a:ext uri="{FF2B5EF4-FFF2-40B4-BE49-F238E27FC236}">
                <a16:creationId xmlns:a16="http://schemas.microsoft.com/office/drawing/2014/main" id="{22657410-6758-686F-28CC-C677CDCBAFBD}"/>
              </a:ext>
            </a:extLst>
          </p:cNvPr>
          <p:cNvSpPr/>
          <p:nvPr/>
        </p:nvSpPr>
        <p:spPr>
          <a:xfrm>
            <a:off x="555290" y="3864057"/>
            <a:ext cx="3773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36;p20">
            <a:extLst>
              <a:ext uri="{FF2B5EF4-FFF2-40B4-BE49-F238E27FC236}">
                <a16:creationId xmlns:a16="http://schemas.microsoft.com/office/drawing/2014/main" id="{89FF809E-F2EE-6348-ADC7-5182D4DCF293}"/>
              </a:ext>
            </a:extLst>
          </p:cNvPr>
          <p:cNvSpPr/>
          <p:nvPr/>
        </p:nvSpPr>
        <p:spPr>
          <a:xfrm>
            <a:off x="4328975" y="3864057"/>
            <a:ext cx="2684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37;p20">
            <a:extLst>
              <a:ext uri="{FF2B5EF4-FFF2-40B4-BE49-F238E27FC236}">
                <a16:creationId xmlns:a16="http://schemas.microsoft.com/office/drawing/2014/main" id="{218AB94A-CA9E-24FC-1087-DC937B46EE68}"/>
              </a:ext>
            </a:extLst>
          </p:cNvPr>
          <p:cNvSpPr/>
          <p:nvPr/>
        </p:nvSpPr>
        <p:spPr>
          <a:xfrm>
            <a:off x="555290" y="4464132"/>
            <a:ext cx="3773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8;p20">
            <a:extLst>
              <a:ext uri="{FF2B5EF4-FFF2-40B4-BE49-F238E27FC236}">
                <a16:creationId xmlns:a16="http://schemas.microsoft.com/office/drawing/2014/main" id="{7DC4A685-CAEB-58CB-3D98-4B64BDAFE02E}"/>
              </a:ext>
            </a:extLst>
          </p:cNvPr>
          <p:cNvSpPr/>
          <p:nvPr/>
        </p:nvSpPr>
        <p:spPr>
          <a:xfrm>
            <a:off x="4328975" y="4464132"/>
            <a:ext cx="2684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39;p20">
            <a:extLst>
              <a:ext uri="{FF2B5EF4-FFF2-40B4-BE49-F238E27FC236}">
                <a16:creationId xmlns:a16="http://schemas.microsoft.com/office/drawing/2014/main" id="{24870664-4039-DEE4-0D62-4736BEABC1CB}"/>
              </a:ext>
            </a:extLst>
          </p:cNvPr>
          <p:cNvSpPr/>
          <p:nvPr/>
        </p:nvSpPr>
        <p:spPr>
          <a:xfrm>
            <a:off x="555290" y="5064207"/>
            <a:ext cx="3773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40;p20">
            <a:extLst>
              <a:ext uri="{FF2B5EF4-FFF2-40B4-BE49-F238E27FC236}">
                <a16:creationId xmlns:a16="http://schemas.microsoft.com/office/drawing/2014/main" id="{09B3B201-72D7-98A2-7553-BF0E580E379B}"/>
              </a:ext>
            </a:extLst>
          </p:cNvPr>
          <p:cNvSpPr/>
          <p:nvPr/>
        </p:nvSpPr>
        <p:spPr>
          <a:xfrm>
            <a:off x="4328975" y="5064207"/>
            <a:ext cx="2684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41;p20">
            <a:extLst>
              <a:ext uri="{FF2B5EF4-FFF2-40B4-BE49-F238E27FC236}">
                <a16:creationId xmlns:a16="http://schemas.microsoft.com/office/drawing/2014/main" id="{BE0081BE-5C83-370B-CB87-503E8C5D58E5}"/>
              </a:ext>
            </a:extLst>
          </p:cNvPr>
          <p:cNvSpPr/>
          <p:nvPr/>
        </p:nvSpPr>
        <p:spPr>
          <a:xfrm>
            <a:off x="555290" y="5664282"/>
            <a:ext cx="3773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42;p20">
            <a:extLst>
              <a:ext uri="{FF2B5EF4-FFF2-40B4-BE49-F238E27FC236}">
                <a16:creationId xmlns:a16="http://schemas.microsoft.com/office/drawing/2014/main" id="{B97E90B6-B578-85EB-D85D-5C01F87EE62B}"/>
              </a:ext>
            </a:extLst>
          </p:cNvPr>
          <p:cNvSpPr/>
          <p:nvPr/>
        </p:nvSpPr>
        <p:spPr>
          <a:xfrm>
            <a:off x="4328975" y="5664282"/>
            <a:ext cx="2684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43;p20">
            <a:extLst>
              <a:ext uri="{FF2B5EF4-FFF2-40B4-BE49-F238E27FC236}">
                <a16:creationId xmlns:a16="http://schemas.microsoft.com/office/drawing/2014/main" id="{18EA2B65-B09C-DC7C-79E4-7D7E25D790AD}"/>
              </a:ext>
            </a:extLst>
          </p:cNvPr>
          <p:cNvSpPr/>
          <p:nvPr/>
        </p:nvSpPr>
        <p:spPr>
          <a:xfrm>
            <a:off x="555290" y="6264357"/>
            <a:ext cx="3773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44;p20">
            <a:extLst>
              <a:ext uri="{FF2B5EF4-FFF2-40B4-BE49-F238E27FC236}">
                <a16:creationId xmlns:a16="http://schemas.microsoft.com/office/drawing/2014/main" id="{8A516E3B-DB05-0726-AA69-6EBB0974E324}"/>
              </a:ext>
            </a:extLst>
          </p:cNvPr>
          <p:cNvSpPr/>
          <p:nvPr/>
        </p:nvSpPr>
        <p:spPr>
          <a:xfrm>
            <a:off x="4328975" y="6264357"/>
            <a:ext cx="2684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225;p20" descr="image.png">
            <a:extLst>
              <a:ext uri="{FF2B5EF4-FFF2-40B4-BE49-F238E27FC236}">
                <a16:creationId xmlns:a16="http://schemas.microsoft.com/office/drawing/2014/main" id="{728ECEB1-363D-DEAA-A83E-814A412B6BF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71435" y="2662678"/>
            <a:ext cx="4305300" cy="262681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230;p20">
            <a:extLst>
              <a:ext uri="{FF2B5EF4-FFF2-40B4-BE49-F238E27FC236}">
                <a16:creationId xmlns:a16="http://schemas.microsoft.com/office/drawing/2014/main" id="{4DAB8D4E-36B9-90DA-6495-0E311B6CC38E}"/>
              </a:ext>
            </a:extLst>
          </p:cNvPr>
          <p:cNvSpPr txBox="1"/>
          <p:nvPr/>
        </p:nvSpPr>
        <p:spPr>
          <a:xfrm>
            <a:off x="7671435" y="2027816"/>
            <a:ext cx="4520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bg1"/>
                </a:solidFill>
                <a:latin typeface="UTM Swiss Condensed" panose="02000500000000000000"/>
                <a:ea typeface="Montserrat"/>
                <a:cs typeface="Montserrat"/>
                <a:sym typeface="Montserrat"/>
              </a:rPr>
              <a:t>Nhận</a:t>
            </a:r>
            <a:r>
              <a:rPr lang="en-US" b="1" i="0" u="none" strike="noStrike" cap="none" dirty="0">
                <a:solidFill>
                  <a:schemeClr val="bg1"/>
                </a:solidFill>
                <a:latin typeface="UTM Swiss Condensed" panose="02000500000000000000"/>
                <a:ea typeface="Montserrat"/>
                <a:cs typeface="Montserrat"/>
                <a:sym typeface="Montserrat"/>
              </a:rPr>
              <a:t> </a:t>
            </a:r>
            <a:r>
              <a:rPr lang="en-US" b="1" i="0" u="none" strike="noStrike" cap="none" dirty="0" err="1">
                <a:solidFill>
                  <a:schemeClr val="bg1"/>
                </a:solidFill>
                <a:latin typeface="UTM Swiss Condensed" panose="02000500000000000000"/>
                <a:ea typeface="Montserrat"/>
                <a:cs typeface="Montserrat"/>
                <a:sym typeface="Montserrat"/>
              </a:rPr>
              <a:t>Xét</a:t>
            </a:r>
            <a:endParaRPr sz="2400" dirty="0">
              <a:solidFill>
                <a:schemeClr val="bg1"/>
              </a:solidFill>
              <a:latin typeface="UTM Swiss Condensed" panose="02000500000000000000"/>
            </a:endParaRPr>
          </a:p>
        </p:txBody>
      </p:sp>
      <p:sp>
        <p:nvSpPr>
          <p:cNvPr id="37" name="Google Shape;231;p20">
            <a:extLst>
              <a:ext uri="{FF2B5EF4-FFF2-40B4-BE49-F238E27FC236}">
                <a16:creationId xmlns:a16="http://schemas.microsoft.com/office/drawing/2014/main" id="{39C55E76-4D65-0BB9-0BC7-108E9D4FD99A}"/>
              </a:ext>
            </a:extLst>
          </p:cNvPr>
          <p:cNvSpPr txBox="1"/>
          <p:nvPr/>
        </p:nvSpPr>
        <p:spPr>
          <a:xfrm>
            <a:off x="7966710" y="2957953"/>
            <a:ext cx="37147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11CAA0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ResNet50: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Độ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chính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xác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trung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bình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đạt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~68% ở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giai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đoạn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đầu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,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sau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khi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tối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ưu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hóa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và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fine-tuning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có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thể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đạt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tới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93% (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như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trong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kết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luận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).</a:t>
            </a:r>
            <a:endParaRPr dirty="0">
              <a:latin typeface="UTM Swiss Condensed" panose="02000500000000000000"/>
            </a:endParaRPr>
          </a:p>
        </p:txBody>
      </p:sp>
      <p:sp>
        <p:nvSpPr>
          <p:cNvPr id="38" name="Google Shape;232;p20">
            <a:extLst>
              <a:ext uri="{FF2B5EF4-FFF2-40B4-BE49-F238E27FC236}">
                <a16:creationId xmlns:a16="http://schemas.microsoft.com/office/drawing/2014/main" id="{598009B5-8EF6-25D9-1774-E2F2BB3353E7}"/>
              </a:ext>
            </a:extLst>
          </p:cNvPr>
          <p:cNvSpPr txBox="1"/>
          <p:nvPr/>
        </p:nvSpPr>
        <p:spPr>
          <a:xfrm>
            <a:off x="7966710" y="4171349"/>
            <a:ext cx="37147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11CAA0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YOLOv8: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Khả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năng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phát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hiện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vật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thể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(mAP@0.5)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đạt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1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87.6%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,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cho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thấy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mô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hình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khoanh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vùng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rất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tốt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các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vị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trí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tổn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sz="1350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thương</a:t>
            </a:r>
            <a:r>
              <a:rPr lang="en-US" sz="1350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.</a:t>
            </a:r>
            <a:endParaRPr dirty="0">
              <a:latin typeface="UTM Swiss Condensed" panose="02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262382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C82F2-35FF-4C89-8571-2C11FFD2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8F87DC02-12CA-D1B7-755A-DB8BA43586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00" y="2300875"/>
            <a:ext cx="7124688" cy="3863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D5903CA-28D2-8A9A-2CF0-246DEC55780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7"/>
          <a:stretch>
            <a:fillRect/>
          </a:stretch>
        </p:blipFill>
        <p:spPr bwMode="auto">
          <a:xfrm>
            <a:off x="8685101" y="2300875"/>
            <a:ext cx="2347334" cy="386309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6" name="Google Shape;96;p14">
            <a:extLst>
              <a:ext uri="{FF2B5EF4-FFF2-40B4-BE49-F238E27FC236}">
                <a16:creationId xmlns:a16="http://schemas.microsoft.com/office/drawing/2014/main" id="{85F11B26-A1FB-F537-B394-9F8DA3257C82}"/>
              </a:ext>
            </a:extLst>
          </p:cNvPr>
          <p:cNvSpPr txBox="1"/>
          <p:nvPr/>
        </p:nvSpPr>
        <p:spPr>
          <a:xfrm>
            <a:off x="590549" y="1378666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b="1" i="0" u="none" strike="noStrike" cap="none" dirty="0">
                <a:solidFill>
                  <a:schemeClr val="bg1"/>
                </a:solidFill>
                <a:latin typeface="UTM Swiss Condensed" panose="02000500000000000000"/>
                <a:ea typeface="Merriweather"/>
                <a:cs typeface="Merriweather"/>
                <a:sym typeface="Merriweather"/>
              </a:rPr>
              <a:t>Kết quả thực nghiệm (Sản phẩm)</a:t>
            </a:r>
            <a:endParaRPr lang="vi-VN" sz="3600" dirty="0">
              <a:solidFill>
                <a:schemeClr val="bg1"/>
              </a:solidFill>
              <a:latin typeface="UTM Swiss Condensed" panose="02000500000000000000"/>
            </a:endParaRPr>
          </a:p>
        </p:txBody>
      </p:sp>
      <p:sp>
        <p:nvSpPr>
          <p:cNvPr id="47" name="Google Shape;97;p14">
            <a:extLst>
              <a:ext uri="{FF2B5EF4-FFF2-40B4-BE49-F238E27FC236}">
                <a16:creationId xmlns:a16="http://schemas.microsoft.com/office/drawing/2014/main" id="{9CEB13CF-DEBE-4FB4-7B8A-1FB0F4BCD645}"/>
              </a:ext>
            </a:extLst>
          </p:cNvPr>
          <p:cNvSpPr/>
          <p:nvPr/>
        </p:nvSpPr>
        <p:spPr>
          <a:xfrm rot="5400000">
            <a:off x="233157" y="1588418"/>
            <a:ext cx="500055" cy="80551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3042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C34F-5890-1333-F799-10A0810D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50;p21" descr="image.png">
            <a:extLst>
              <a:ext uri="{FF2B5EF4-FFF2-40B4-BE49-F238E27FC236}">
                <a16:creationId xmlns:a16="http://schemas.microsoft.com/office/drawing/2014/main" id="{916A1E75-086E-B0A2-38E9-3EA795690B8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7762" y="3121382"/>
            <a:ext cx="6585917" cy="1803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51;p21" descr="image.png">
            <a:extLst>
              <a:ext uri="{FF2B5EF4-FFF2-40B4-BE49-F238E27FC236}">
                <a16:creationId xmlns:a16="http://schemas.microsoft.com/office/drawing/2014/main" id="{4469585A-68B9-42E1-7C1C-F9036000F0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05584" y="2304685"/>
            <a:ext cx="4390611" cy="3605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53;p21" descr="image.png">
            <a:extLst>
              <a:ext uri="{FF2B5EF4-FFF2-40B4-BE49-F238E27FC236}">
                <a16:creationId xmlns:a16="http://schemas.microsoft.com/office/drawing/2014/main" id="{6B66B4AE-2D61-DD2D-8F4E-2D65D9D647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765" y="3283261"/>
            <a:ext cx="135992" cy="181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54;p21" descr="image.png">
            <a:extLst>
              <a:ext uri="{FF2B5EF4-FFF2-40B4-BE49-F238E27FC236}">
                <a16:creationId xmlns:a16="http://schemas.microsoft.com/office/drawing/2014/main" id="{83833D2E-1900-8A6E-DACA-45E8C82DFC4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33858" y="2504062"/>
            <a:ext cx="184561" cy="18116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57;p21">
            <a:extLst>
              <a:ext uri="{FF2B5EF4-FFF2-40B4-BE49-F238E27FC236}">
                <a16:creationId xmlns:a16="http://schemas.microsoft.com/office/drawing/2014/main" id="{71BFBA3F-8019-051A-23C4-FA6AEB32D34B}"/>
              </a:ext>
            </a:extLst>
          </p:cNvPr>
          <p:cNvSpPr txBox="1"/>
          <p:nvPr/>
        </p:nvSpPr>
        <p:spPr>
          <a:xfrm>
            <a:off x="682757" y="3219171"/>
            <a:ext cx="6282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369A1"/>
                </a:solidFill>
                <a:latin typeface="UTM Swiss Condensed" panose="02000500000000000000"/>
                <a:ea typeface="Montserrat"/>
                <a:cs typeface="Montserrat"/>
                <a:sym typeface="Montserrat"/>
              </a:rPr>
              <a:t>Kết Quả</a:t>
            </a:r>
            <a:endParaRPr sz="2800">
              <a:latin typeface="UTM Swiss Condensed" panose="02000500000000000000"/>
            </a:endParaRPr>
          </a:p>
        </p:txBody>
      </p:sp>
      <p:sp>
        <p:nvSpPr>
          <p:cNvPr id="9" name="Google Shape;258;p21">
            <a:extLst>
              <a:ext uri="{FF2B5EF4-FFF2-40B4-BE49-F238E27FC236}">
                <a16:creationId xmlns:a16="http://schemas.microsoft.com/office/drawing/2014/main" id="{74A9D57F-8F58-B612-5A8A-C7D794D1A401}"/>
              </a:ext>
            </a:extLst>
          </p:cNvPr>
          <p:cNvSpPr txBox="1"/>
          <p:nvPr/>
        </p:nvSpPr>
        <p:spPr>
          <a:xfrm>
            <a:off x="7718419" y="2440758"/>
            <a:ext cx="39777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5803D"/>
                </a:solidFill>
                <a:latin typeface="UTM Swiss Condensed" panose="02000500000000000000"/>
                <a:ea typeface="Montserrat"/>
                <a:cs typeface="Montserrat"/>
                <a:sym typeface="Montserrat"/>
              </a:rPr>
              <a:t>Tương</a:t>
            </a:r>
            <a:r>
              <a:rPr lang="en-US" sz="2000" b="1" i="0" u="none" strike="noStrike" cap="none" dirty="0">
                <a:solidFill>
                  <a:srgbClr val="15803D"/>
                </a:solidFill>
                <a:latin typeface="UTM Swiss Condensed" panose="02000500000000000000"/>
                <a:ea typeface="Montserrat"/>
                <a:cs typeface="Montserrat"/>
                <a:sym typeface="Montserrat"/>
              </a:rPr>
              <a:t> Lai</a:t>
            </a:r>
            <a:endParaRPr sz="2800" dirty="0">
              <a:latin typeface="UTM Swiss Condensed" panose="02000500000000000000"/>
            </a:endParaRPr>
          </a:p>
        </p:txBody>
      </p:sp>
      <p:sp>
        <p:nvSpPr>
          <p:cNvPr id="10" name="Google Shape;259;p21">
            <a:extLst>
              <a:ext uri="{FF2B5EF4-FFF2-40B4-BE49-F238E27FC236}">
                <a16:creationId xmlns:a16="http://schemas.microsoft.com/office/drawing/2014/main" id="{450D1F02-C68E-14F3-E25A-CF3E2D6B114A}"/>
              </a:ext>
            </a:extLst>
          </p:cNvPr>
          <p:cNvSpPr txBox="1"/>
          <p:nvPr/>
        </p:nvSpPr>
        <p:spPr>
          <a:xfrm>
            <a:off x="725802" y="3753382"/>
            <a:ext cx="5828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•</a:t>
            </a:r>
            <a:endParaRPr sz="2800" dirty="0">
              <a:latin typeface="UTM Swiss Condensed" panose="02000500000000000000"/>
            </a:endParaRPr>
          </a:p>
        </p:txBody>
      </p:sp>
      <p:sp>
        <p:nvSpPr>
          <p:cNvPr id="11" name="Google Shape;260;p21">
            <a:extLst>
              <a:ext uri="{FF2B5EF4-FFF2-40B4-BE49-F238E27FC236}">
                <a16:creationId xmlns:a16="http://schemas.microsoft.com/office/drawing/2014/main" id="{CAE7C051-19B7-38A5-2619-D2D631A93C90}"/>
              </a:ext>
            </a:extLst>
          </p:cNvPr>
          <p:cNvSpPr txBox="1"/>
          <p:nvPr/>
        </p:nvSpPr>
        <p:spPr>
          <a:xfrm>
            <a:off x="898221" y="3654190"/>
            <a:ext cx="578939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Xây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dựng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thành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công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hệ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thống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hỗ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trợ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chẩn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đoán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nội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soi.</a:t>
            </a:r>
            <a:endParaRPr sz="2800" dirty="0">
              <a:latin typeface="UTM Swiss Condensed" panose="02000500000000000000"/>
            </a:endParaRPr>
          </a:p>
        </p:txBody>
      </p:sp>
      <p:sp>
        <p:nvSpPr>
          <p:cNvPr id="12" name="Google Shape;261;p21">
            <a:extLst>
              <a:ext uri="{FF2B5EF4-FFF2-40B4-BE49-F238E27FC236}">
                <a16:creationId xmlns:a16="http://schemas.microsoft.com/office/drawing/2014/main" id="{44F65845-7069-7834-53F2-093DBC2A9DFA}"/>
              </a:ext>
            </a:extLst>
          </p:cNvPr>
          <p:cNvSpPr txBox="1"/>
          <p:nvPr/>
        </p:nvSpPr>
        <p:spPr>
          <a:xfrm>
            <a:off x="725802" y="4027672"/>
            <a:ext cx="5828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•</a:t>
            </a:r>
            <a:endParaRPr sz="2800">
              <a:latin typeface="UTM Swiss Condensed" panose="02000500000000000000"/>
            </a:endParaRPr>
          </a:p>
        </p:txBody>
      </p:sp>
      <p:sp>
        <p:nvSpPr>
          <p:cNvPr id="13" name="Google Shape;262;p21">
            <a:extLst>
              <a:ext uri="{FF2B5EF4-FFF2-40B4-BE49-F238E27FC236}">
                <a16:creationId xmlns:a16="http://schemas.microsoft.com/office/drawing/2014/main" id="{F5A8444E-3636-E1E4-05D8-A1F01A8A6318}"/>
              </a:ext>
            </a:extLst>
          </p:cNvPr>
          <p:cNvSpPr txBox="1"/>
          <p:nvPr/>
        </p:nvSpPr>
        <p:spPr>
          <a:xfrm>
            <a:off x="898221" y="3928480"/>
            <a:ext cx="578939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Kết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hợp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ResNet50 (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Phân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loại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)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và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YOLO (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Khoanh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vùng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).</a:t>
            </a:r>
            <a:endParaRPr sz="2800" dirty="0">
              <a:latin typeface="UTM Swiss Condensed" panose="02000500000000000000"/>
            </a:endParaRPr>
          </a:p>
        </p:txBody>
      </p:sp>
      <p:sp>
        <p:nvSpPr>
          <p:cNvPr id="14" name="Google Shape;263;p21">
            <a:extLst>
              <a:ext uri="{FF2B5EF4-FFF2-40B4-BE49-F238E27FC236}">
                <a16:creationId xmlns:a16="http://schemas.microsoft.com/office/drawing/2014/main" id="{0B21BAE0-CC39-C1BE-F06F-F61F589CD737}"/>
              </a:ext>
            </a:extLst>
          </p:cNvPr>
          <p:cNvSpPr txBox="1"/>
          <p:nvPr/>
        </p:nvSpPr>
        <p:spPr>
          <a:xfrm>
            <a:off x="725802" y="4301963"/>
            <a:ext cx="5828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•</a:t>
            </a:r>
            <a:endParaRPr sz="2800">
              <a:latin typeface="UTM Swiss Condensed" panose="02000500000000000000"/>
            </a:endParaRPr>
          </a:p>
        </p:txBody>
      </p:sp>
      <p:sp>
        <p:nvSpPr>
          <p:cNvPr id="15" name="Google Shape;264;p21">
            <a:extLst>
              <a:ext uri="{FF2B5EF4-FFF2-40B4-BE49-F238E27FC236}">
                <a16:creationId xmlns:a16="http://schemas.microsoft.com/office/drawing/2014/main" id="{7FBB1E2D-A507-4EC8-4E7F-F1C806BC3251}"/>
              </a:ext>
            </a:extLst>
          </p:cNvPr>
          <p:cNvSpPr txBox="1"/>
          <p:nvPr/>
        </p:nvSpPr>
        <p:spPr>
          <a:xfrm>
            <a:off x="898221" y="4202770"/>
            <a:ext cx="578939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Website hoạt động ổn định, dễ sử dụng cho bác sĩ.</a:t>
            </a:r>
            <a:endParaRPr sz="2800">
              <a:latin typeface="UTM Swiss Condensed" panose="02000500000000000000"/>
            </a:endParaRPr>
          </a:p>
        </p:txBody>
      </p:sp>
      <p:sp>
        <p:nvSpPr>
          <p:cNvPr id="17" name="Google Shape;266;p21">
            <a:extLst>
              <a:ext uri="{FF2B5EF4-FFF2-40B4-BE49-F238E27FC236}">
                <a16:creationId xmlns:a16="http://schemas.microsoft.com/office/drawing/2014/main" id="{79F57A1A-F6F4-9F04-62BF-3573D555BFE5}"/>
              </a:ext>
            </a:extLst>
          </p:cNvPr>
          <p:cNvSpPr txBox="1"/>
          <p:nvPr/>
        </p:nvSpPr>
        <p:spPr>
          <a:xfrm>
            <a:off x="7533858" y="2923071"/>
            <a:ext cx="3594084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Mở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rộng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nhận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diện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: Ung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thư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dạ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dày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,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xuất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huyết</a:t>
            </a:r>
            <a:r>
              <a:rPr lang="en-US" b="0" i="0" u="none" strike="noStrike" cap="none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.</a:t>
            </a:r>
            <a:endParaRPr lang="vi-VN" b="0" i="0" u="none" strike="noStrike" cap="none" dirty="0">
              <a:solidFill>
                <a:srgbClr val="4B5563"/>
              </a:solidFill>
              <a:latin typeface="UTM Swiss Condensed" panose="02000500000000000000"/>
              <a:ea typeface="Roboto"/>
              <a:cs typeface="Roboto"/>
              <a:sym typeface="Roboto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Tối ưu hóa tốc độ xử lý thời gian thực (Real-time).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Phân</a:t>
            </a:r>
            <a:r>
              <a:rPr lang="en-US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loại</a:t>
            </a:r>
            <a:r>
              <a:rPr lang="en-US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dataset </a:t>
            </a:r>
            <a:r>
              <a:rPr lang="en-US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theo</a:t>
            </a:r>
            <a:r>
              <a:rPr lang="en-US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độ</a:t>
            </a:r>
            <a:r>
              <a:rPr lang="en-US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tuổi</a:t>
            </a:r>
            <a:r>
              <a:rPr lang="en-US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để</a:t>
            </a:r>
            <a:r>
              <a:rPr lang="en-US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tăng</a:t>
            </a:r>
            <a:r>
              <a:rPr lang="en-US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độ</a:t>
            </a:r>
            <a:r>
              <a:rPr lang="en-US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chính</a:t>
            </a:r>
            <a:r>
              <a:rPr lang="en-US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xác</a:t>
            </a:r>
            <a:r>
              <a:rPr lang="en-US" dirty="0">
                <a:solidFill>
                  <a:srgbClr val="4B5563"/>
                </a:solidFill>
                <a:latin typeface="UTM Swiss Condensed" panose="02000500000000000000"/>
                <a:ea typeface="Roboto"/>
                <a:cs typeface="Roboto"/>
                <a:sym typeface="Roboto"/>
              </a:rPr>
              <a:t>.</a:t>
            </a:r>
            <a:endParaRPr lang="en-US" sz="2800" dirty="0">
              <a:latin typeface="UTM Swiss Condensed" panose="02000500000000000000"/>
            </a:endParaRPr>
          </a:p>
        </p:txBody>
      </p:sp>
      <p:sp>
        <p:nvSpPr>
          <p:cNvPr id="24" name="Google Shape;96;p14">
            <a:extLst>
              <a:ext uri="{FF2B5EF4-FFF2-40B4-BE49-F238E27FC236}">
                <a16:creationId xmlns:a16="http://schemas.microsoft.com/office/drawing/2014/main" id="{1B159C24-8413-63B5-2FFA-9A2994005DFE}"/>
              </a:ext>
            </a:extLst>
          </p:cNvPr>
          <p:cNvSpPr txBox="1"/>
          <p:nvPr/>
        </p:nvSpPr>
        <p:spPr>
          <a:xfrm>
            <a:off x="590549" y="1378666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b="1" dirty="0">
                <a:solidFill>
                  <a:schemeClr val="bg1"/>
                </a:solidFill>
                <a:latin typeface="UTM Swiss Condensed" panose="02000500000000000000"/>
                <a:sym typeface="Merriweather"/>
              </a:rPr>
              <a:t>Kết luận &amp; hướng phát triển</a:t>
            </a:r>
            <a:endParaRPr lang="vi-VN" sz="3600" dirty="0">
              <a:solidFill>
                <a:schemeClr val="bg1"/>
              </a:solidFill>
              <a:latin typeface="UTM Swiss Condensed" panose="02000500000000000000"/>
            </a:endParaRPr>
          </a:p>
        </p:txBody>
      </p:sp>
      <p:sp>
        <p:nvSpPr>
          <p:cNvPr id="25" name="Google Shape;97;p14">
            <a:extLst>
              <a:ext uri="{FF2B5EF4-FFF2-40B4-BE49-F238E27FC236}">
                <a16:creationId xmlns:a16="http://schemas.microsoft.com/office/drawing/2014/main" id="{6D8F374E-848E-DD87-5511-6979D6B81954}"/>
              </a:ext>
            </a:extLst>
          </p:cNvPr>
          <p:cNvSpPr/>
          <p:nvPr/>
        </p:nvSpPr>
        <p:spPr>
          <a:xfrm rot="5400000">
            <a:off x="233157" y="1588418"/>
            <a:ext cx="500055" cy="80551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UTM Swiss Condensed" panose="0200050000000000000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025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2023-C101-E728-776D-A7AFB1A09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F7923-4EE7-11EF-4F5A-2A2490454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1060752"/>
          </a:xfrm>
        </p:spPr>
        <p:txBody>
          <a:bodyPr anchor="ctr">
            <a:normAutofit/>
          </a:bodyPr>
          <a:lstStyle/>
          <a:p>
            <a:r>
              <a:rPr lang="en-VN" sz="4400" b="1" dirty="0"/>
              <a:t>TRÂN TRỌNG CẢM ƠN!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4E0C0F-2C69-6C60-5017-9DBAFD88D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89752"/>
            <a:ext cx="9144000" cy="1655762"/>
          </a:xfrm>
        </p:spPr>
        <p:txBody>
          <a:bodyPr/>
          <a:lstStyle/>
          <a:p>
            <a:r>
              <a:rPr lang="vi-VN" b="1" dirty="0"/>
              <a:t>LifeCode</a:t>
            </a:r>
            <a:endParaRPr lang="en-VN" b="1" dirty="0"/>
          </a:p>
          <a:p>
            <a:r>
              <a:rPr lang="en-US" b="1" dirty="0"/>
              <a:t>POLYPTECT HỆ THỐNG HỖ TRỢ CHUẨN ĐOÁN BỆNH TRONG Y KHOA</a:t>
            </a:r>
            <a:endParaRPr lang="en-VN" b="1" dirty="0"/>
          </a:p>
        </p:txBody>
      </p:sp>
    </p:spTree>
    <p:extLst>
      <p:ext uri="{BB962C8B-B14F-4D97-AF65-F5344CB8AC3E}">
        <p14:creationId xmlns:p14="http://schemas.microsoft.com/office/powerpoint/2010/main" val="4137771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709</Words>
  <Application>Microsoft Office PowerPoint</Application>
  <PresentationFormat>Widescreen</PresentationFormat>
  <Paragraphs>96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Merriweather</vt:lpstr>
      <vt:lpstr>Roboto</vt:lpstr>
      <vt:lpstr>UTM Swiss Condensed</vt:lpstr>
      <vt:lpstr>Office Theme</vt:lpstr>
      <vt:lpstr>Đà Nẵng, ngày 29 tháng 11 năm 2025</vt:lpstr>
      <vt:lpstr>LifeCode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TRÂN TRỌNG CẢM ƠN!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HÒA BÌNH PHẠM</dc:creator>
  <cp:lastModifiedBy>Ka Ka</cp:lastModifiedBy>
  <cp:revision>8</cp:revision>
  <dcterms:created xsi:type="dcterms:W3CDTF">2025-10-02T09:00:44Z</dcterms:created>
  <dcterms:modified xsi:type="dcterms:W3CDTF">2025-11-25T14:36:45Z</dcterms:modified>
</cp:coreProperties>
</file>